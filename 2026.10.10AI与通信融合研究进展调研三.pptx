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0" r:id="rId6"/>
    <p:sldId id="259" r:id="rId7"/>
    <p:sldId id="267" r:id="rId8"/>
    <p:sldId id="261" r:id="rId9"/>
    <p:sldId id="269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6E17C6E9-B76F-4EEB-BC0B-74787FB92CC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6E17C6E9-B76F-4EEB-BC0B-74787FB92CC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383647" y="1073427"/>
            <a:ext cx="11424706" cy="4515807"/>
          </a:xfrm>
          <a:prstGeom prst="rect">
            <a:avLst/>
          </a:prstGeom>
          <a:solidFill>
            <a:srgbClr val="005BAC">
              <a:alpha val="85000"/>
            </a:srgbClr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charset="-122"/>
              <a:cs typeface="+mn-cs"/>
            </a:endParaRPr>
          </a:p>
        </p:txBody>
      </p:sp>
      <p:sp>
        <p:nvSpPr>
          <p:cNvPr id="74" name="文本占位符 73"/>
          <p:cNvSpPr/>
          <p:nvPr>
            <p:ph type="body" sz="quarter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 anchorCtr="0"/>
          <a:lstStyle>
            <a:lvl1pPr algn="ctr">
              <a:defRPr sz="1800" b="1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</a:t>
            </a:r>
            <a:endParaRPr kumimoji="1" lang="zh-CN" altLang="en-US" dirty="0"/>
          </a:p>
        </p:txBody>
      </p:sp>
      <p:sp>
        <p:nvSpPr>
          <p:cNvPr id="76" name="标题 75"/>
          <p:cNvSpPr/>
          <p:nvPr>
            <p:ph type="title" hasCustomPrompt="1"/>
          </p:nvPr>
        </p:nvSpPr>
        <p:spPr>
          <a:xfrm>
            <a:off x="1523867" y="2087714"/>
            <a:ext cx="9144000" cy="738664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kumimoji="1" lang="zh-CN" altLang="en-US" dirty="0"/>
              <a:t>编辑标题样式</a:t>
            </a:r>
            <a:endParaRPr kumimoji="1" lang="zh-CN" altLang="en-US" dirty="0"/>
          </a:p>
        </p:txBody>
      </p:sp>
      <p:sp>
        <p:nvSpPr>
          <p:cNvPr id="79" name="文本占位符 78"/>
          <p:cNvSpPr/>
          <p:nvPr>
            <p:ph type="body" sz="quarter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defRPr sz="2000" b="1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 lvl="0"/>
            <a:r>
              <a:rPr kumimoji="1" lang="zh-CN" altLang="en-US" dirty="0"/>
              <a:t>电子信息与通信学院</a:t>
            </a:r>
            <a:endParaRPr kumimoji="1"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charset="-122"/>
              <a:cs typeface="+mn-cs"/>
            </a:endParaRPr>
          </a:p>
        </p:txBody>
      </p:sp>
      <p:sp>
        <p:nvSpPr>
          <p:cNvPr id="15" name="矩形 14"/>
          <p:cNvSpPr/>
          <p:nvPr userDrawn="1"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charset="-122"/>
              <a:cs typeface="+mn-cs"/>
            </a:endParaRPr>
          </a:p>
        </p:txBody>
      </p:sp>
      <p:sp>
        <p:nvSpPr>
          <p:cNvPr id="17" name="矩形 16"/>
          <p:cNvSpPr/>
          <p:nvPr userDrawn="1"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charset="-122"/>
              <a:cs typeface="+mn-cs"/>
            </a:endParaRPr>
          </a:p>
        </p:txBody>
      </p:sp>
      <p:cxnSp>
        <p:nvCxnSpPr>
          <p:cNvPr id="18" name="直接连接符 23"/>
          <p:cNvCxnSpPr>
            <a:stCxn id="14" idx="2"/>
            <a:endCxn id="15" idx="2"/>
          </p:cNvCxnSpPr>
          <p:nvPr userDrawn="1"/>
        </p:nvCxnSpPr>
        <p:spPr>
          <a:xfrm>
            <a:off x="455647" y="652498"/>
            <a:ext cx="11280706" cy="0"/>
          </a:xfrm>
          <a:prstGeom prst="line">
            <a:avLst/>
          </a:prstGeom>
          <a:noFill/>
          <a:ln w="6350" cap="flat" cmpd="sng" algn="ctr">
            <a:solidFill>
              <a:srgbClr val="005BAD"/>
            </a:solidFill>
            <a:prstDash val="solid"/>
            <a:miter lim="800000"/>
          </a:ln>
          <a:effectLst/>
        </p:spPr>
      </p:cxn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002" y="5776087"/>
            <a:ext cx="1235730" cy="938799"/>
          </a:xfrm>
          <a:prstGeom prst="rect">
            <a:avLst/>
          </a:prstGeom>
        </p:spPr>
      </p:pic>
      <p:sp>
        <p:nvSpPr>
          <p:cNvPr id="21" name="页脚占位符 136"/>
          <p:cNvSpPr txBox="1"/>
          <p:nvPr userDrawn="1"/>
        </p:nvSpPr>
        <p:spPr>
          <a:xfrm>
            <a:off x="3287688" y="284390"/>
            <a:ext cx="5616624" cy="36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kern="1200" dirty="0">
                <a:solidFill>
                  <a:srgbClr val="005BAC"/>
                </a:solidFill>
                <a:latin typeface="Century Gothic" panose="020B0502020202020204"/>
                <a:ea typeface="微软雅黑" charset="-122"/>
                <a:cs typeface="+mn-cs"/>
              </a:rPr>
              <a:t>明德厚学 求是创新</a:t>
            </a:r>
            <a:endParaRPr lang="zh-CN" altLang="en-US" sz="1400" kern="1200" dirty="0">
              <a:solidFill>
                <a:srgbClr val="005BAC"/>
              </a:solidFill>
              <a:latin typeface="Century Gothic" panose="020B0502020202020204"/>
              <a:ea typeface="微软雅黑" charset="-122"/>
              <a:cs typeface="+mn-cs"/>
            </a:endParaRPr>
          </a:p>
        </p:txBody>
      </p:sp>
      <p:sp>
        <p:nvSpPr>
          <p:cNvPr id="25" name="文本占位符 78"/>
          <p:cNvSpPr/>
          <p:nvPr>
            <p:ph type="body" sz="quarter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defRPr sz="2400" b="1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 lvl="0"/>
            <a:r>
              <a:rPr kumimoji="1" lang="zh-CN" altLang="en-US" dirty="0"/>
              <a:t>编辑副标题</a:t>
            </a:r>
            <a:endParaRPr kumimoji="1" lang="zh-CN" altLang="en-US" dirty="0"/>
          </a:p>
        </p:txBody>
      </p:sp>
      <p:sp>
        <p:nvSpPr>
          <p:cNvPr id="26" name="文本占位符 78"/>
          <p:cNvSpPr/>
          <p:nvPr>
            <p:ph type="body" sz="quarter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defRPr sz="2400" b="1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 lvl="0"/>
            <a:r>
              <a:rPr kumimoji="1" lang="en-US" altLang="zh-CN" dirty="0"/>
              <a:t>xxx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/>
          <p:cNvSpPr txBox="1"/>
          <p:nvPr/>
        </p:nvSpPr>
        <p:spPr bwMode="auto"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900" dirty="0">
                <a:solidFill>
                  <a:srgbClr val="FFFFFF"/>
                </a:solidFill>
              </a:rPr>
              <a:t>White markers indicate position of  Drawing Guides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14" name="TextBox 17"/>
          <p:cNvSpPr txBox="1"/>
          <p:nvPr/>
        </p:nvSpPr>
        <p:spPr bwMode="auto"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7.40 cm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2.91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5" name="TextBox 18"/>
          <p:cNvSpPr txBox="1"/>
          <p:nvPr/>
        </p:nvSpPr>
        <p:spPr bwMode="auto"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6.00 cm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2.36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6" name="TextBox 19"/>
          <p:cNvSpPr txBox="1"/>
          <p:nvPr/>
        </p:nvSpPr>
        <p:spPr bwMode="auto"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8.00 cm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3.15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7" name="TextBox 20"/>
          <p:cNvSpPr txBox="1"/>
          <p:nvPr/>
        </p:nvSpPr>
        <p:spPr bwMode="auto"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</a:t>
            </a:r>
            <a:r>
              <a:rPr lang="en-US" sz="700">
                <a:solidFill>
                  <a:srgbClr val="FFFFFF"/>
                </a:solidFill>
              </a:rPr>
              <a:t>11.70 cm</a:t>
            </a:r>
            <a:endParaRPr lang="en-US" sz="700">
              <a:solidFill>
                <a:srgbClr val="FFFFFF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 4.61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8" name="TextBox 21"/>
          <p:cNvSpPr txBox="1"/>
          <p:nvPr/>
        </p:nvSpPr>
        <p:spPr bwMode="auto"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0.50 cm </a:t>
            </a: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endParaRPr lang="en-US" sz="70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0.2 inches 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9" name="TextBox 22"/>
          <p:cNvSpPr txBox="1"/>
          <p:nvPr/>
        </p:nvSpPr>
        <p:spPr bwMode="auto"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  <a:buFont typeface="Wingdings" panose="05000000000000000000" pitchFamily="2" charset="2"/>
              <a:buChar char="ß"/>
            </a:pPr>
            <a:r>
              <a:rPr lang="en-US" sz="700">
                <a:solidFill>
                  <a:srgbClr val="FFFFFF"/>
                </a:solidFill>
              </a:rPr>
              <a:t>0.50 cm</a:t>
            </a:r>
            <a:endParaRPr lang="en-US" sz="700">
              <a:solidFill>
                <a:srgbClr val="FFFFFF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 0.2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20" name="TextBox 23"/>
          <p:cNvSpPr txBox="1"/>
          <p:nvPr/>
        </p:nvSpPr>
        <p:spPr bwMode="auto"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11.70 cm </a:t>
            </a: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 4.61 inches </a:t>
            </a:r>
            <a:endParaRPr lang="en-US" sz="700">
              <a:solidFill>
                <a:srgbClr val="FFFFFF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/>
          <p:cNvSpPr/>
          <p:nvPr/>
        </p:nvSpPr>
        <p:spPr bwMode="gray">
          <a:xfrm>
            <a:off x="-2055284" y="0"/>
            <a:ext cx="1871133" cy="584775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sz="700" b="1" dirty="0">
                <a:solidFill>
                  <a:srgbClr val="FFFFFF"/>
                </a:solidFill>
              </a:rPr>
              <a:t>To view  drawing guides:</a:t>
            </a:r>
            <a:endParaRPr lang="en-US" sz="700" b="1" dirty="0">
              <a:solidFill>
                <a:srgbClr val="FFFFFF"/>
              </a:solidFill>
            </a:endParaRPr>
          </a:p>
          <a:p>
            <a:pPr>
              <a:defRPr/>
            </a:pPr>
            <a:endParaRPr lang="en-US" sz="300" b="1" dirty="0">
              <a:solidFill>
                <a:srgbClr val="FFFFFF"/>
              </a:solidFill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</a:rPr>
              <a:t>Right-click on slide and select ’Grid and Guides...’</a:t>
            </a:r>
            <a:endParaRPr lang="en-US" sz="700" dirty="0">
              <a:solidFill>
                <a:srgbClr val="FFFFFF"/>
              </a:solidFill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</a:rPr>
              <a:t>Check ’Display drawing guides on screen’</a:t>
            </a:r>
            <a:endParaRPr lang="en-US" sz="700" dirty="0">
              <a:solidFill>
                <a:srgbClr val="FFFFFF"/>
              </a:solidFill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</a:rPr>
              <a:t>Select ’OK’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/>
          <p:nvPr>
            <p:ph type="title"/>
          </p:nvPr>
        </p:nvSpPr>
        <p:spPr>
          <a:xfrm>
            <a:off x="478368" y="395289"/>
            <a:ext cx="11231033" cy="492443"/>
          </a:xfrm>
        </p:spPr>
        <p:txBody>
          <a:bodyPr lIns="108000"/>
          <a:lstStyle/>
          <a:p>
            <a:r>
              <a:rPr lang="zh-CN" altLang="en-US" noProof="0" dirty="0"/>
              <a:t>单击此处编辑母版标题样式</a:t>
            </a:r>
            <a:endParaRPr lang="en-US" noProof="0" dirty="0"/>
          </a:p>
        </p:txBody>
      </p:sp>
      <p:sp>
        <p:nvSpPr>
          <p:cNvPr id="4" name="内容占位符 3"/>
          <p:cNvSpPr/>
          <p:nvPr>
            <p:ph sz="quarter" idx="17"/>
          </p:nvPr>
        </p:nvSpPr>
        <p:spPr>
          <a:xfrm>
            <a:off x="477838" y="1052513"/>
            <a:ext cx="11231562" cy="5235575"/>
          </a:xfr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2000" b="0" i="0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179705" marR="0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sz="1800" b="0" i="0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358775" marR="0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b="0" i="0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539750" marR="0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sz="1400" b="0" i="0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2114550" indent="-285750">
              <a:buClr>
                <a:schemeClr val="tx2"/>
              </a:buClr>
              <a:buFont typeface="Wingdings" panose="05000000000000000000" pitchFamily="2" charset="2"/>
              <a:buChar char="n"/>
              <a:defRPr lang="zh-CN" altLang="en-US" sz="1400" b="0" i="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单击此处编辑母版文本样式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j-cs"/>
            </a:endParaRPr>
          </a:p>
          <a:p>
            <a:pPr marL="179705" marR="0" lvl="1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第二级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j-cs"/>
            </a:endParaRPr>
          </a:p>
          <a:p>
            <a:pPr marL="358775" marR="0" lvl="2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第三级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j-cs"/>
            </a:endParaRPr>
          </a:p>
          <a:p>
            <a:pPr marL="539750" marR="0" lvl="3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第四级</a:t>
            </a:r>
            <a:endParaRPr kumimoji="1" lang="zh-CN" altLang="en-US" dirty="0"/>
          </a:p>
        </p:txBody>
      </p:sp>
      <p:grpSp>
        <p:nvGrpSpPr>
          <p:cNvPr id="25" name="组合 24"/>
          <p:cNvGrpSpPr>
            <a:grpSpLocks noChangeAspect="1"/>
          </p:cNvGrpSpPr>
          <p:nvPr userDrawn="1"/>
        </p:nvGrpSpPr>
        <p:grpSpPr>
          <a:xfrm>
            <a:off x="10889097" y="451528"/>
            <a:ext cx="971869" cy="537470"/>
            <a:chOff x="10728252" y="116959"/>
            <a:chExt cx="1293558" cy="715373"/>
          </a:xfrm>
          <a:solidFill>
            <a:srgbClr val="005BAD"/>
          </a:solidFill>
        </p:grpSpPr>
        <p:sp>
          <p:nvSpPr>
            <p:cNvPr id="27" name="ïSļíḋe"/>
            <p:cNvSpPr/>
            <p:nvPr userDrawn="1"/>
          </p:nvSpPr>
          <p:spPr bwMode="auto">
            <a:xfrm>
              <a:off x="10844646" y="498022"/>
              <a:ext cx="156074" cy="25047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charset="-122"/>
              </a:endParaRPr>
            </a:p>
          </p:txBody>
        </p:sp>
        <p:sp>
          <p:nvSpPr>
            <p:cNvPr id="28" name="îSḷîḓé"/>
            <p:cNvSpPr/>
            <p:nvPr userDrawn="1"/>
          </p:nvSpPr>
          <p:spPr bwMode="auto">
            <a:xfrm>
              <a:off x="10963687" y="498022"/>
              <a:ext cx="166655" cy="25047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charset="-122"/>
              </a:endParaRPr>
            </a:p>
          </p:txBody>
        </p:sp>
        <p:sp>
          <p:nvSpPr>
            <p:cNvPr id="29" name="işļïḑê"/>
            <p:cNvSpPr/>
            <p:nvPr userDrawn="1"/>
          </p:nvSpPr>
          <p:spPr bwMode="auto">
            <a:xfrm>
              <a:off x="10937233" y="650019"/>
              <a:ext cx="66134" cy="3211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charset="-122"/>
              </a:endParaRPr>
            </a:p>
          </p:txBody>
        </p:sp>
        <p:sp>
          <p:nvSpPr>
            <p:cNvPr id="30" name="iṣḷiḑè"/>
            <p:cNvSpPr/>
            <p:nvPr userDrawn="1"/>
          </p:nvSpPr>
          <p:spPr bwMode="auto">
            <a:xfrm>
              <a:off x="11088015" y="498022"/>
              <a:ext cx="158719" cy="25047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charset="-122"/>
              </a:endParaRPr>
            </a:p>
          </p:txBody>
        </p:sp>
        <p:sp>
          <p:nvSpPr>
            <p:cNvPr id="31" name="ïṣľídè"/>
            <p:cNvSpPr/>
            <p:nvPr userDrawn="1"/>
          </p:nvSpPr>
          <p:spPr bwMode="auto">
            <a:xfrm>
              <a:off x="11207055" y="498022"/>
              <a:ext cx="156074" cy="25047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charset="-122"/>
              </a:endParaRPr>
            </a:p>
          </p:txBody>
        </p:sp>
        <p:sp>
          <p:nvSpPr>
            <p:cNvPr id="32" name="íSļîḓé"/>
            <p:cNvSpPr/>
            <p:nvPr userDrawn="1"/>
          </p:nvSpPr>
          <p:spPr bwMode="auto">
            <a:xfrm>
              <a:off x="11170020" y="714243"/>
              <a:ext cx="66134" cy="3425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charset="-122"/>
              </a:endParaRPr>
            </a:p>
          </p:txBody>
        </p:sp>
        <p:sp>
          <p:nvSpPr>
            <p:cNvPr id="33" name="iṩ1ídè"/>
            <p:cNvSpPr/>
            <p:nvPr userDrawn="1"/>
          </p:nvSpPr>
          <p:spPr bwMode="auto">
            <a:xfrm>
              <a:off x="10728252" y="116959"/>
              <a:ext cx="1293558" cy="700044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charset="-122"/>
              </a:endParaRPr>
            </a:p>
          </p:txBody>
        </p:sp>
        <p:sp>
          <p:nvSpPr>
            <p:cNvPr id="34" name="ïşľíḑé"/>
            <p:cNvSpPr/>
            <p:nvPr userDrawn="1"/>
          </p:nvSpPr>
          <p:spPr bwMode="auto">
            <a:xfrm>
              <a:off x="11561527" y="472332"/>
              <a:ext cx="185172" cy="360000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charset="-122"/>
              </a:endParaRPr>
            </a:p>
          </p:txBody>
        </p:sp>
      </p:grpSp>
      <p:cxnSp>
        <p:nvCxnSpPr>
          <p:cNvPr id="35" name="直接连接符 23"/>
          <p:cNvCxnSpPr>
            <a:endCxn id="33" idx="0"/>
          </p:cNvCxnSpPr>
          <p:nvPr userDrawn="1"/>
        </p:nvCxnSpPr>
        <p:spPr>
          <a:xfrm>
            <a:off x="0" y="966439"/>
            <a:ext cx="10889097" cy="11042"/>
          </a:xfrm>
          <a:prstGeom prst="line">
            <a:avLst/>
          </a:prstGeom>
          <a:noFill/>
          <a:ln w="6350" cap="flat" cmpd="sng" algn="ctr">
            <a:solidFill>
              <a:srgbClr val="005BAD"/>
            </a:solidFill>
            <a:prstDash val="solid"/>
            <a:miter lim="800000"/>
          </a:ln>
          <a:effectLst/>
        </p:spPr>
      </p:cxnSp>
      <p:sp>
        <p:nvSpPr>
          <p:cNvPr id="42" name="矩形 41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charset="-122"/>
              <a:cs typeface="+mn-cs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charset="-122"/>
              <a:cs typeface="+mn-cs"/>
            </a:endParaRPr>
          </a:p>
        </p:txBody>
      </p:sp>
      <p:sp>
        <p:nvSpPr>
          <p:cNvPr id="44" name="日期占位符 135"/>
          <p:cNvSpPr txBox="1"/>
          <p:nvPr userDrawn="1"/>
        </p:nvSpPr>
        <p:spPr>
          <a:xfrm>
            <a:off x="8817580" y="6500767"/>
            <a:ext cx="2883976" cy="267573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dirty="0">
                <a:solidFill>
                  <a:srgbClr val="768395"/>
                </a:solidFill>
                <a:latin typeface="Century Gothic" panose="020B0502020202020204"/>
                <a:ea typeface="微软雅黑" charset="-122"/>
              </a:rPr>
              <a:t>华中科技大学电子信息与通信学院</a:t>
            </a:r>
            <a:endParaRPr lang="zh-CN" altLang="en-US" dirty="0">
              <a:solidFill>
                <a:srgbClr val="768395"/>
              </a:solidFill>
              <a:latin typeface="Century Gothic" panose="020B0502020202020204"/>
              <a:ea typeface="微软雅黑" charset="-122"/>
            </a:endParaRPr>
          </a:p>
        </p:txBody>
      </p:sp>
      <p:sp>
        <p:nvSpPr>
          <p:cNvPr id="45" name="页脚占位符 136"/>
          <p:cNvSpPr txBox="1"/>
          <p:nvPr userDrawn="1"/>
        </p:nvSpPr>
        <p:spPr>
          <a:xfrm>
            <a:off x="494122" y="6497233"/>
            <a:ext cx="2880000" cy="273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768395"/>
                </a:solidFill>
                <a:latin typeface="Century Gothic" panose="020B0502020202020204"/>
                <a:ea typeface="微软雅黑" charset="-122"/>
              </a:rPr>
              <a:t>明德厚学 求是创新</a:t>
            </a:r>
            <a:endParaRPr lang="zh-CN" altLang="en-US" dirty="0">
              <a:solidFill>
                <a:srgbClr val="768395"/>
              </a:solidFill>
              <a:latin typeface="Century Gothic" panose="020B0502020202020204"/>
              <a:ea typeface="微软雅黑" charset="-122"/>
            </a:endParaRPr>
          </a:p>
        </p:txBody>
      </p:sp>
      <p:sp>
        <p:nvSpPr>
          <p:cNvPr id="48" name="Slide Number Placeholder 5"/>
          <p:cNvSpPr txBox="1"/>
          <p:nvPr userDrawn="1"/>
        </p:nvSpPr>
        <p:spPr>
          <a:xfrm>
            <a:off x="6063642" y="6568610"/>
            <a:ext cx="480484" cy="1254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000" b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</a:fld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cxnSp>
        <p:nvCxnSpPr>
          <p:cNvPr id="11" name="直接连接符 23"/>
          <p:cNvCxnSpPr>
            <a:stCxn id="7" idx="2"/>
            <a:endCxn id="8" idx="2"/>
          </p:cNvCxnSpPr>
          <p:nvPr userDrawn="1"/>
        </p:nvCxnSpPr>
        <p:spPr>
          <a:xfrm>
            <a:off x="455647" y="652498"/>
            <a:ext cx="11280706" cy="0"/>
          </a:xfrm>
          <a:prstGeom prst="line">
            <a:avLst/>
          </a:prstGeom>
          <a:noFill/>
          <a:ln w="6350" cap="flat" cmpd="sng" algn="ctr">
            <a:solidFill>
              <a:srgbClr val="005BAD"/>
            </a:solidFill>
            <a:prstDash val="solid"/>
            <a:miter lim="800000"/>
          </a:ln>
          <a:effectLst/>
        </p:spPr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25" y="4941168"/>
            <a:ext cx="1851750" cy="1409075"/>
          </a:xfrm>
          <a:prstGeom prst="rect">
            <a:avLst/>
          </a:prstGeom>
        </p:spPr>
      </p:pic>
      <p:sp>
        <p:nvSpPr>
          <p:cNvPr id="13" name="页脚占位符 136"/>
          <p:cNvSpPr txBox="1"/>
          <p:nvPr userDrawn="1"/>
        </p:nvSpPr>
        <p:spPr>
          <a:xfrm>
            <a:off x="3287688" y="284390"/>
            <a:ext cx="5616624" cy="36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kern="1200" dirty="0">
                <a:solidFill>
                  <a:srgbClr val="005BAC"/>
                </a:solidFill>
                <a:latin typeface="微软雅黑" charset="-122"/>
                <a:ea typeface="微软雅黑" charset="-122"/>
                <a:cs typeface="+mn-cs"/>
              </a:rPr>
              <a:t>明德厚学 求是创新</a:t>
            </a:r>
            <a:endParaRPr lang="zh-CN" altLang="en-US" sz="1400" kern="1200" dirty="0">
              <a:solidFill>
                <a:srgbClr val="005BAC"/>
              </a:solidFill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91344" y="1556795"/>
            <a:ext cx="11809312" cy="2808310"/>
          </a:xfrm>
          <a:prstGeom prst="rect">
            <a:avLst/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7" name="标题 75"/>
          <p:cNvSpPr/>
          <p:nvPr>
            <p:ph type="title" hasCustomPrompt="1"/>
          </p:nvPr>
        </p:nvSpPr>
        <p:spPr>
          <a:xfrm>
            <a:off x="1524000" y="2492895"/>
            <a:ext cx="9144000" cy="958227"/>
          </a:xfrm>
        </p:spPr>
        <p:txBody>
          <a:bodyPr/>
          <a:lstStyle>
            <a:lvl1pPr algn="ctr">
              <a:defRPr sz="4400" b="1">
                <a:solidFill>
                  <a:schemeClr val="bg1"/>
                </a:solidFill>
                <a:latin typeface="微软雅黑 Light" pitchFamily="34" charset="-122"/>
                <a:ea typeface="微软雅黑 Light" pitchFamily="34" charset="-122"/>
              </a:defRPr>
            </a:lvl1pPr>
          </a:lstStyle>
          <a:p>
            <a:r>
              <a:rPr kumimoji="1" lang="zh-CN" altLang="en-US" dirty="0"/>
              <a:t>编辑标题样式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2211705" y="2629535"/>
            <a:ext cx="7767955" cy="664210"/>
          </a:xfrm>
        </p:spPr>
        <p:txBody>
          <a:bodyPr wrap="square">
            <a:normAutofit fontScale="90000"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altLang="zh-CN" sz="3600" dirty="0">
                <a:latin typeface="微软雅黑" charset="-122"/>
                <a:ea typeface="微软雅黑" charset="-122"/>
                <a:sym typeface="+mn-ea"/>
              </a:rPr>
              <a:t>AI</a:t>
            </a:r>
            <a:r>
              <a:rPr lang="zh-CN" altLang="en-US" sz="3600" dirty="0">
                <a:latin typeface="微软雅黑" charset="-122"/>
                <a:ea typeface="微软雅黑" charset="-122"/>
                <a:sym typeface="+mn-ea"/>
              </a:rPr>
              <a:t>与通信融合研究进展调研</a:t>
            </a:r>
            <a:r>
              <a:rPr lang="zh-CN" altLang="en-US" sz="3600" dirty="0">
                <a:solidFill>
                  <a:schemeClr val="bg1"/>
                </a:solidFill>
                <a:latin typeface="微软雅黑" charset="0"/>
                <a:ea typeface="微软雅黑" charset="0"/>
                <a:sym typeface="+mn-ea"/>
              </a:rPr>
              <a:t>三</a:t>
            </a:r>
            <a:endParaRPr lang="zh-CN" altLang="en-US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048593" name="文本占位符 6"/>
          <p:cNvSpPr/>
          <p:nvPr>
            <p:ph type="body" sz="quarter" idx="14"/>
          </p:nvPr>
        </p:nvSpPr>
        <p:spPr>
          <a:xfrm>
            <a:off x="4448810" y="4185285"/>
            <a:ext cx="3295015" cy="44069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汇报人：朱甜甜</a:t>
            </a: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48594" name="文本占位符 2"/>
          <p:cNvSpPr/>
          <p:nvPr/>
        </p:nvSpPr>
        <p:spPr>
          <a:xfrm>
            <a:off x="4618698" y="4855743"/>
            <a:ext cx="3024188" cy="3589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ctr" anchorCtr="0" compatLnSpc="1"/>
          <a:lstStyle>
            <a:lvl1pPr algn="ctr" rtl="0" eaLnBrk="1" fontAlgn="base" hangingPunct="1">
              <a:spcBef>
                <a:spcPts val="15"/>
              </a:spcBef>
              <a:spcAft>
                <a:spcPct val="0"/>
              </a:spcAft>
              <a:buFont typeface="Arial" panose="020B0604020202020204" pitchFamily="34" charset="0"/>
              <a:defRPr lang="en-US" sz="1800" b="1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1pPr>
            <a:lvl2pPr marL="179705" indent="-179705" algn="l" rtl="0" eaLnBrk="1" fontAlgn="base" hangingPunct="1">
              <a:spcBef>
                <a:spcPts val="4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lang="en-US" b="0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2pPr>
            <a:lvl3pPr marL="358775" indent="-179705" algn="l" rtl="0" eaLnBrk="1" fontAlgn="base" hangingPunct="1">
              <a:spcBef>
                <a:spcPts val="4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lang="en-US" sz="1600" b="0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3pPr>
            <a:lvl4pPr marL="539750" indent="-179705" algn="l" rtl="0" eaLnBrk="1" fontAlgn="base" hangingPunct="1">
              <a:spcBef>
                <a:spcPts val="4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lang="en-US" sz="1600" b="0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4pPr>
            <a:lvl5pPr marL="719455" indent="-179705" algn="l" rtl="0" eaLnBrk="1" fontAlgn="base" hangingPunct="1">
              <a:spcBef>
                <a:spcPts val="400"/>
              </a:spcBef>
              <a:spcAft>
                <a:spcPct val="0"/>
              </a:spcAft>
              <a:buFont typeface="Arial" panose="020B0604020202020204" pitchFamily="34" charset="0"/>
              <a:buChar char="‒"/>
              <a:defRPr lang="en-GB" sz="1600" b="0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5pPr>
            <a:lvl6pPr marL="899795" indent="-179705" algn="l" defTabSz="914400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79500" indent="-179705" algn="l" defTabSz="914400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‒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914400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914400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‒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2026.</a:t>
            </a:r>
            <a:r>
              <a:rPr lang="en-US" altLang="zh-CN" sz="200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</a:t>
            </a:r>
            <a:r>
              <a:rPr altLang="zh-CN" sz="200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0.10</a:t>
            </a:r>
            <a:endParaRPr lang="en-US" altLang="zh-CN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研究方向</a:t>
            </a:r>
            <a:endParaRPr lang="zh-CN" altLang="en-US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228869" y="1072572"/>
            <a:ext cx="11734165" cy="538294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本次调研围绕</a:t>
            </a: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“AI </a:t>
            </a:r>
            <a:r>
              <a:rPr lang="zh-CN" altLang="en-US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如何改善通信体验</a:t>
            </a: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和</a:t>
            </a: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通信</a:t>
            </a: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算法如何测试验收</a:t>
            </a: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两个方向展开</a:t>
            </a:r>
            <a:r>
              <a:rPr lang="zh-CN" altLang="en-US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。</a:t>
            </a:r>
            <a:endParaRPr lang="zh-CN" altLang="en-US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方向一：苹果通过</a:t>
            </a:r>
            <a:r>
              <a:rPr lang="en-US" altLang="zh-CN" sz="16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6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优化通信体验</a:t>
            </a:r>
            <a:endParaRPr lang="zh-CN" altLang="en-US" sz="16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关注苹果如何利用终端观测、历史数据和学习模型，将预测或决策结果接入实际通信功能。重点梳理模型输入、模型输出、执行位置及影响体验的作用路径。本次选取三类代表方案：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视频码率选择：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预测可用吞吐量，与即时测量融合，辅助播放器选择视频分片。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无线承载映射：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根据业务服务质量要求与运行状态，利用强化学习选择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QoS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流与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DRB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的映射。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移动性管理：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预测小区或波束测量，将预测结果用于切换准备与条件判断，并通过实测监测可靠性。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研究重点：区分预测准确性、决策合理性和实际体验改善。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9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方向二：通信</a:t>
            </a:r>
            <a:r>
              <a:rPr lang="en-US" altLang="zh-CN" sz="16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6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算法如何测试验收</a:t>
            </a:r>
            <a:endParaRPr lang="zh-CN" altLang="en-US" sz="16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围绕波束预测等无线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功能，调研了部署后的验证机制、联合测试判据、自动化测试框架，以及可信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OTA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环境的构建方法。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本次选取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四份研究方案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：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苹果专利：检查模型适用条件、输出异常和预测准确性，管理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模型启用与验证状态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苹果专利：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联合检查波束身份与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RSRP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预测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，设计可配置的容差判据。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OAIC-T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论文：通过脚本、服务器和执行节点组织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网络侧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自动化测试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，为终端测试平台提供架构参考。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波束管理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OTA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论文：在多探头暗室中重建多波束信道，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先验证环境，再评估终端侧预测功能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研究联系：方向一明确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如何影响通信行为，方向二围绕这些行为建立可重复、可追溯的验证方法。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6024343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方向一：通过</a:t>
            </a:r>
            <a:r>
              <a:rPr lang="en-US" altLang="zh-CN" sz="2800" b="1" dirty="0"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优化通信体验</a:t>
            </a:r>
            <a:endParaRPr lang="zh-CN" altLang="en-US" sz="2800" b="1" dirty="0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258445" y="951865"/>
            <a:ext cx="11734165" cy="553597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1.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苹果专利：终端吞吐量预测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0"/>
                <a:ea typeface="微软雅黑" charset="0"/>
                <a:sym typeface="+mn-ea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融合历史经验与即时观测，辅助视频码率选择</a:t>
            </a:r>
            <a:r>
              <a:rPr lang="en-US" altLang="zh-CN" b="1" baseline="30000" dirty="0">
                <a:solidFill>
                  <a:srgbClr val="000000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cs typeface="+mn-ea"/>
                <a:sym typeface="+mn-ea"/>
              </a:rPr>
              <a:t>[1]</a:t>
            </a:r>
            <a:endParaRPr lang="zh-CN" altLang="en-US" b="1" dirty="0">
              <a:solidFill>
                <a:schemeClr val="tx1"/>
              </a:solidFill>
              <a:highlight>
                <a:srgbClr val="FFFF00"/>
              </a:highlight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创新与价值：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该方法面向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播放启动和网络切换时吞吐量难以准确估计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的问题，将终端历史模型的预测与当前网络测量形成的估计相结合，并根据可靠程度调整权重，为播放器更早选择合适的视频码率提供依据。其价值在于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兼顾播放流畅性与画质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：减少吞吐量高估导致的卡顿风险，也避免观测不足时过于保守地选择低码率。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技术概述：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流媒体通常将同一内容提供为多个码率版本，播放器逐段决定下载哪个版本。选择过高可能使下载跟不上播放，选择过低则可能损失画质。播放刚启动或网络刚切换时，终端尚未积累足够的当前网络观测，难以可靠地估计可用吞吐量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苹果提出在终端建立历史吞吐量模型，与即时估计融合，再将结果用于视频分片选择。历史经验补充观测不足，即时测量帮助修正当前判断。</a:t>
            </a:r>
            <a:endParaRPr lang="zh-CN" altLang="en-US" sz="14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输入包括历史吞吐量、网络类型与标识、时间或位置等上下文，以及当前接收速率或缓冲状态。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模型根据当前网络环境生成吞吐量预测，传统估计方法根据当前接收速率或缓冲区状态形成即时估计。终端控制器根据两路结果的可靠程度进行融合，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得到最终吞吐量估计，再提供给播放器，用于选择下一段视频的码率版本。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积累历史播放数据，建立环境与吞吐量的关系。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终端记录历史吞吐量及网络类型、网络标识、时间、位置等上下文，建立机器学习模型。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专利中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列举了随机森林、梯度提升树和神经网络，允许在终端本地完成数据采集与模型构建。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运行时并行形成两种吞吐量估计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模型依据当前环境生成预测，传统估计利用本次播放的接收速率或缓冲状态提供观测依据。两者的作用不同：模型可以较早提供参考，当前观测则逐步反映本次网络的实际表现。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根据可靠程度调整融合权重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专利考虑即时估计是否稳定，以及当前环境与历史环境是否匹配。播放启动时观测不足，历史模型可以发挥较大作用；实际观测积累后，再调整两者的影响。网络切换时需要重新评估，避免沿用旧网络判断。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将融合结果交给播放器，持续选择分片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播放器依据最终吞吐量估计，从已有内容版本中选择下一段视频。估计过程可随播放推进重复运行。模型负责提供网络能力判断，播放器负责执行内容选择。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研究成熟度与启示：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公开文本给出终端实现流程，但未提供代码及播放性能对照实验。验证应同时观察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吞吐量估计误差、卡顿和视频质量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，确认预测改善能否转化为播放体验收益。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713645" y="324566"/>
            <a:ext cx="4128794" cy="64180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[1] APPLE INC. On-device machine learning-based network bandwidth prediction to improve adaptive media streaming performance: US20250202793A1[P]. 2025-06-19.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5403477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方向一：通过</a:t>
            </a:r>
            <a:r>
              <a:rPr lang="en-US" altLang="zh-CN" sz="2800" b="1" dirty="0"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优化通信体验</a:t>
            </a:r>
            <a:endParaRPr lang="zh-CN" altLang="en-US" sz="2800" b="1" dirty="0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228956" y="966387"/>
            <a:ext cx="11734165" cy="550364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2.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苹果专利：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AI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无线承载映射——根据业务要求与运行状态选择传输承载</a:t>
            </a:r>
            <a:r>
              <a:rPr lang="en-US" altLang="zh-CN" b="1" baseline="30000" dirty="0">
                <a:solidFill>
                  <a:srgbClr val="000000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cs typeface="+mn-ea"/>
                <a:sym typeface="+mn-ea"/>
              </a:rPr>
              <a:t>[</a:t>
            </a:r>
            <a:r>
              <a:rPr lang="en-US" altLang="zh-CN" b="1" baseline="30000" dirty="0">
                <a:solidFill>
                  <a:srgbClr val="000000"/>
                </a:solidFill>
                <a:highlight>
                  <a:srgbClr val="FFFF00"/>
                </a:highlight>
                <a:latin typeface="微软雅黑" charset="0"/>
                <a:ea typeface="微软雅黑" charset="0"/>
                <a:cs typeface="+mn-ea"/>
                <a:sym typeface="+mn-ea"/>
              </a:rPr>
              <a:t>2</a:t>
            </a:r>
            <a:r>
              <a:rPr lang="en-US" altLang="zh-CN" b="1" baseline="30000" dirty="0">
                <a:solidFill>
                  <a:srgbClr val="000000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cs typeface="+mn-ea"/>
                <a:sym typeface="+mn-ea"/>
              </a:rPr>
              <a:t>]</a:t>
            </a:r>
            <a:endParaRPr lang="zh-CN" altLang="en-US" b="1" dirty="0">
              <a:solidFill>
                <a:schemeClr val="tx1"/>
              </a:solidFill>
              <a:highlight>
                <a:srgbClr val="FFFF00"/>
              </a:highlight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创新与价值：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该方法将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QoS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流到数据无线承载的映射作为可优化的决策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，利用强化学习结合业务需求、承载状态和网络反馈选择映射关系。其价值在于让承载配置更好地适应当前条件，以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实际吞吐量、时延等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QoS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表现指导调整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，支持多业务通信质量保障。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技术概述：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实时通话、视频和后台传输对时延、吞吐量及可靠性的要求不同。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5G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将数据组织为具有不同服务质量要求的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QoS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流，再由服务数据适配协议（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SDAP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）映射到数据无线承载（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DRB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），多个流可以共用一个承载。现有标准支持配置和更新映射规则。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苹果提出引入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辅助选择，其中给出深度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学习方案，利用运行反馈学习业务流与承载的对应关系。</a:t>
            </a:r>
            <a:endParaRPr lang="zh-CN" altLang="en-US" sz="14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输入包括当前映射、业务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QoS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要求、承载历史测量和信道信息。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决策输出是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QoS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流与可用数据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无线承载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的对应关系，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QFI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用于标识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QoS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流。</a:t>
            </a:r>
            <a:endParaRPr lang="zh-CN" altLang="en-US" sz="14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用业务需求和承载状态描述决策条件。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状态包含当前映射、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QoS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要求、承载历史测量及信道信息。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QFI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标识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QoS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流，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DRB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是可选择的无线承载。模型需要同时了解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业务要求怎样的服务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和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当前有哪些承载可用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深度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网络评估候选连接，形成映射方案。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深度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网络评估将业务流连接到不同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DRB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的动作，原文给出逐步建立映射的示例。执行后，将吞吐量、时延等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QoS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测量转化为奖励，通过交互改进选择。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奖励用于引导学习，实际业务要求仍需单独检查。</a:t>
            </a:r>
            <a:endParaRPr lang="zh-CN" altLang="en-US" sz="14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状态变化后重新推理，并处理输入不足。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QoS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变化、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QoS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流或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DRB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建立与释放可触发决策。缺少近期特征时，终端可向网络请求信息。这使系统能够响应新的业务组合，同时要求正确处理过期输入和失效承载。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终端与网络共同完成模型使用和管理。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专利讨论终端训练、网络训练后下发及共同训练等路径。终端执行映射推理，网络参与模型启用和监测；模型不可用或条件不满足时，可采用固定映射。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研究成熟度与启示：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专利给出映射建模、训练交互和推理触发流程，未提供定量对照实验。评价应检查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业务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QoS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是否改善，以及映射调整的开销和稳定性。</a:t>
            </a:r>
            <a:endParaRPr lang="zh-CN" altLang="en-US" sz="14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455079" y="324566"/>
            <a:ext cx="4387360" cy="64180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[2] APPLE INC. Systems and methods for artificial intelligence/machine learning based quality of service flow to data radio bearer mapping design: WO2026000129A1[P]. 2026-01-02.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post_object_image_24505617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1489640" y="783462"/>
            <a:ext cx="3684805" cy="5291002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sp>
        <p:nvSpPr>
          <p:cNvPr id="4" name="文本框 3"/>
          <p:cNvSpPr txBox="1"/>
          <p:nvPr userDrawn="1"/>
        </p:nvSpPr>
        <p:spPr>
          <a:xfrm>
            <a:off x="617366" y="442595"/>
            <a:ext cx="9289410" cy="405627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苹果专利：承载映射策略的强化学习训练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——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终端调整，网络反馈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6912951" y="1334090"/>
            <a:ext cx="4426703" cy="4189746"/>
          </a:xfrm>
          <a:prstGeom prst="rect">
            <a:avLst/>
          </a:prstGeom>
        </p:spPr>
        <p:txBody>
          <a:bodyPr wrap="square" rtlCol="0">
            <a:noAutofit/>
          </a:bodyPr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charset="0"/>
                <a:ea typeface="微软雅黑" charset="0"/>
                <a:cs typeface="微软雅黑" charset="0"/>
              </a:rPr>
              <a:t>启动训练，探索映射动作</a:t>
            </a:r>
            <a:endParaRPr lang="zh-CN" altLang="en-US" sz="1600" b="1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终端启动强化学习训练，根据当前状态选择映射调整动作，例如将某个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 QoS 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流从一个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 DRB 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改映射到另一个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 DRB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zh-CN" altLang="en-US" sz="1600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charset="0"/>
                <a:ea typeface="微软雅黑" charset="0"/>
                <a:cs typeface="微软雅黑" charset="0"/>
              </a:rPr>
              <a:t>网络识别变化，返回奖励</a:t>
            </a:r>
            <a:endParaRPr lang="zh-CN" altLang="en-US" sz="1600" b="1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基站检测映射变化，并返回奖励值 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r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。奖励结合吞吐量、时延等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 QoS 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表现，评价动作带来的效果。</a:t>
            </a:r>
            <a:endParaRPr lang="zh-CN" altLang="en-US" sz="1600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charset="0"/>
                <a:ea typeface="微软雅黑" charset="0"/>
                <a:cs typeface="微软雅黑" charset="0"/>
              </a:rPr>
              <a:t>根据反馈更新模型</a:t>
            </a:r>
            <a:endParaRPr lang="zh-CN" altLang="en-US" sz="1600" b="1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终端利用奖励反馈训练深度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 Q 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网络，使模型逐步学会评价不同映射动作的价值。</a:t>
            </a:r>
            <a:endParaRPr lang="zh-CN" altLang="en-US" sz="1600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charset="0"/>
                <a:ea typeface="微软雅黑" charset="0"/>
                <a:cs typeface="微软雅黑" charset="0"/>
              </a:rPr>
              <a:t>多次交互，改进选择策略</a:t>
            </a:r>
            <a:endParaRPr lang="zh-CN" altLang="en-US" sz="1600" b="1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重复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“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选择动作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—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调整映射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—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获取反馈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—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更新模型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”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，学习适应业务需求和运行状态的映射策略。图中展示的是训练交互流程。</a:t>
            </a:r>
            <a:endParaRPr lang="zh-CN" altLang="en-US" sz="16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654050" y="5611495"/>
            <a:ext cx="5381559" cy="748022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图中符号：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UE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</a:rPr>
              <a:t>：终端；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QFI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</a:rPr>
              <a:t>：</a:t>
            </a:r>
            <a:r>
              <a:rPr lang="en-US" altLang="zh-CN" sz="1400">
                <a:latin typeface="微软雅黑" charset="0"/>
                <a:ea typeface="微软雅黑" charset="0"/>
                <a:cs typeface="微软雅黑" charset="0"/>
              </a:rPr>
              <a:t>QoS 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</a:rPr>
              <a:t>流标识；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DRB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</a:rPr>
              <a:t>：数据无线承载；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s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</a:rPr>
              <a:t>：状态；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a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</a:rPr>
              <a:t>：动作；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r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</a:rPr>
              <a:t>：奖励；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Q(s,a)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</a:rPr>
              <a:t>：当前状态下某个动作的预期累计奖励。</a:t>
            </a:r>
            <a:endParaRPr lang="zh-CN" altLang="en-US" sz="140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5206718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方向一：通过</a:t>
            </a:r>
            <a:r>
              <a:rPr lang="en-US" altLang="zh-CN" sz="2800" b="1" dirty="0"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优化通信体验</a:t>
            </a:r>
            <a:endParaRPr lang="zh-CN" altLang="en-US" sz="2800" b="1" dirty="0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258445" y="951865"/>
            <a:ext cx="11734165" cy="561706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3. </a:t>
            </a:r>
            <a:r>
              <a:rPr lang="zh-CN" altLang="en-US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苹果专利：预测辅助移动性管理</a:t>
            </a:r>
            <a:r>
              <a:rPr lang="zh-CN" altLang="en-US" b="1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连接无线状态预测、切换条件与实测监测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charset="-122"/>
                <a:ea typeface="微软雅黑" charset="-122"/>
                <a:cs typeface="+mn-ea"/>
                <a:sym typeface="+mn-ea"/>
              </a:rPr>
              <a:t>[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charset="0"/>
                <a:ea typeface="微软雅黑" charset="0"/>
                <a:cs typeface="+mn-ea"/>
                <a:sym typeface="+mn-ea"/>
              </a:rPr>
              <a:t>3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charset="-122"/>
                <a:ea typeface="微软雅黑" charset="-122"/>
                <a:cs typeface="+mn-ea"/>
                <a:sym typeface="+mn-ea"/>
              </a:rPr>
              <a:t>]</a:t>
            </a:r>
            <a:endParaRPr lang="zh-CN" altLang="en-US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创新与价值：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该方法利用已有无线测量预测未来的小区或波束测量，也允许根据部分波束推断其他波束的测量，为移动性管理提供更早或更完整的无线状态信息。其价值在于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支持网络提前判断链路变化和切换条件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，并通过部分预测替代部分实际测量，探索降低终端测量负担。方案同时保留实际测量监控与模型停用机制，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兼顾预测收益和通信可靠性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技术概述：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终端移动时，小区和波束的信号状态持续变化，已有测量可能无法充分反映后续切换时的情况。苹果提出将测量预测接入移动性管理：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网络配置预测结果的使用规则，终端据此上报预测信息或评价切换条件，并利用对应实测监测预测误差。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预测失准时，可停止或切换模型，恢复实际测量。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已有小区或波束测量为模型提供依据，涉及物理层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L1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测量及经处理的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L3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测量。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时间预测估计后续时刻，空间预测利用邻近波束信息推断另一波束的测量。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两类预测需要不同的实测对应关系。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区分时间预测与空间预测。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时间预测利用已有测量估计后续时刻，空间预测利用邻近波束信息推断另一波束的测量，涉及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L1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L3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测量。前者关注变化趋势，后者补充对象信息，测试时需要分别建立对应实测。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将预测接入切换准备和条件判断。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条件切换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CHO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由网络配置候选小区及执行条件，终端在条件满足后执行。专利进一步提出允许可靠预测参与判断，也可要求预测与实测共同满足条件。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预测如何影响切换，取决于网络配置的采纳规则。</a:t>
            </a:r>
            <a:endParaRPr lang="zh-CN" altLang="en-US" sz="14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用对应实测监测预测误差。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专利提出以均方误差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MSE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等指标检查预测，并将监测结果用于模型管理。验证必须对齐小区或波束，以及预测对应的时间。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MSE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描述误差，不能直接解释为预测正确的概率。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失准后停止或切换模型，恢复实际测量。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监测结果可触发模型停用或切换，并回到实际测量方式。需要检查停止预测后能否及时获得有效观测，使正常移动性处理继续运行。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研究成熟度与启示：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公开文本给出预测、报告和模型监控机制，未提供切换性能或节能对照结果。验证应关联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预测误差、切换成功率、通信中断和测量开销。</a:t>
            </a:r>
            <a:endParaRPr lang="zh-CN" altLang="en-US" sz="14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696846" y="324566"/>
            <a:ext cx="4145593" cy="64180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[3] APPLE INC. Systems and methods for predictive measurements for artificial intelligence/machine learning based mobility enhancement: WO2025043703A1[P]. 2025-03-06.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 userDrawn="1"/>
        </p:nvSpPr>
        <p:spPr>
          <a:xfrm>
            <a:off x="617366" y="442595"/>
            <a:ext cx="9289410" cy="405627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3. 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苹果专利：终端测量预测的运行流程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——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配置、启用、报告与监控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" name="图片 1" descr="post_object_image_13350304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9294" y="1111775"/>
            <a:ext cx="2793578" cy="5195436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5279872" y="1910723"/>
            <a:ext cx="5782929" cy="341531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charset="0"/>
                <a:ea typeface="微软雅黑" charset="0"/>
                <a:cs typeface="微软雅黑" charset="0"/>
              </a:rPr>
              <a:t>上报能力，配置并训练模型</a:t>
            </a:r>
            <a:endParaRPr lang="zh-CN" altLang="en-US" sz="1600" b="1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终端向网络报告支持的预测能力，网络下发训练配置。终端采集数据，图示方案由终端侧服务器离线训练并返回模型。</a:t>
            </a:r>
            <a:endParaRPr lang="zh-CN" altLang="en-US" sz="1600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charset="0"/>
                <a:ea typeface="微软雅黑" charset="0"/>
                <a:cs typeface="微软雅黑" charset="0"/>
              </a:rPr>
              <a:t>通知可用模型，按配置启用</a:t>
            </a:r>
            <a:endParaRPr lang="zh-CN" altLang="en-US" sz="1600" b="1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终端报告可用模型及适用条件，网络选择模型并发送激活消息，明确终端使用哪个模型。</a:t>
            </a:r>
            <a:endParaRPr lang="zh-CN" altLang="en-US" sz="1600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charset="0"/>
                <a:ea typeface="微软雅黑" charset="0"/>
                <a:cs typeface="微软雅黑" charset="0"/>
              </a:rPr>
              <a:t>终端生成预测，上报测量结果</a:t>
            </a:r>
            <a:endParaRPr lang="zh-CN" altLang="en-US" sz="1600" b="1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模型在终端预测小区或波束的</a:t>
            </a:r>
            <a:r>
              <a:rPr lang="en-US" altLang="zh-CN" sz="1600">
                <a:latin typeface="微软雅黑" charset="0"/>
                <a:ea typeface="微软雅黑" charset="0"/>
                <a:cs typeface="微软雅黑" charset="0"/>
              </a:rPr>
              <a:t> L3 </a:t>
            </a: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测量。测量报告可包含实测、预测或两者，供网络使用。</a:t>
            </a:r>
            <a:endParaRPr lang="zh-CN" altLang="en-US" sz="1600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charset="0"/>
                <a:ea typeface="微软雅黑" charset="0"/>
                <a:cs typeface="微软雅黑" charset="0"/>
              </a:rPr>
              <a:t>对照实测监控，管理模型状态</a:t>
            </a:r>
            <a:endParaRPr lang="zh-CN" altLang="en-US" sz="1600" b="1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600">
                <a:latin typeface="微软雅黑" charset="0"/>
                <a:ea typeface="微软雅黑" charset="0"/>
                <a:cs typeface="微软雅黑" charset="0"/>
              </a:rPr>
              <a:t>终端或网络比较预测与对应实测。根据监控结果，通过模型管理信令切换或停用模型，停用后可恢复传统测量报告。</a:t>
            </a:r>
            <a:endParaRPr lang="zh-CN" altLang="en-US" sz="16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5279872" y="5575023"/>
            <a:ext cx="4765361" cy="57629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MR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</a:rPr>
              <a:t>：测量报告；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LCM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</a:rPr>
              <a:t>：模型生命周期管理；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Activation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／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Deactivation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／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Switch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</a:rPr>
              <a:t>：启用／停用／切换。</a:t>
            </a:r>
            <a:endParaRPr lang="zh-CN" altLang="en-US" sz="140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5491781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方向二：通信</a:t>
            </a:r>
            <a:r>
              <a:rPr lang="en-US" altLang="zh-CN" sz="2800" b="1" dirty="0"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算法的测试验收</a:t>
            </a:r>
            <a:endParaRPr lang="zh-CN" altLang="en-US" sz="2800" b="1" dirty="0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258445" y="1025948"/>
            <a:ext cx="11734165" cy="5489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苹果专利：部署后验证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0"/>
                <a:ea typeface="微软雅黑" charset="0"/>
                <a:sym typeface="+mn-ea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检查模型适用性与预测表现，动态管理使用状态</a:t>
            </a:r>
            <a:r>
              <a:rPr lang="en-US" altLang="zh-CN" b="1" baseline="30000" dirty="0">
                <a:solidFill>
                  <a:srgbClr val="000000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cs typeface="+mn-ea"/>
                <a:sym typeface="+mn-ea"/>
              </a:rPr>
              <a:t>[</a:t>
            </a:r>
            <a:r>
              <a:rPr lang="en-US" altLang="zh-CN" b="1" baseline="30000" dirty="0">
                <a:solidFill>
                  <a:srgbClr val="000000"/>
                </a:solidFill>
                <a:highlight>
                  <a:srgbClr val="FFFF00"/>
                </a:highlight>
                <a:latin typeface="微软雅黑" charset="0"/>
                <a:ea typeface="微软雅黑" charset="0"/>
                <a:cs typeface="+mn-ea"/>
                <a:sym typeface="+mn-ea"/>
              </a:rPr>
              <a:t>4</a:t>
            </a:r>
            <a:r>
              <a:rPr lang="en-US" altLang="zh-CN" b="1" baseline="30000" dirty="0">
                <a:solidFill>
                  <a:srgbClr val="000000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cs typeface="+mn-ea"/>
                <a:sym typeface="+mn-ea"/>
              </a:rPr>
              <a:t>]</a:t>
            </a:r>
            <a:endParaRPr lang="zh-CN" altLang="en-US" b="1" dirty="0">
              <a:solidFill>
                <a:schemeClr val="tx1"/>
              </a:solidFill>
              <a:highlight>
                <a:srgbClr val="FFFF00"/>
              </a:highlight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创新与价值：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波束预测利用部分无线测量辅助选择候选波束，但模型在环境变化后可能失准。该方法将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运行中的可靠性检查与模型使用状态关联起来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，支持评估现用模型及候选模型，避免仅凭开发阶段的测试结果长期采用预测。其价值在于为波束预测的持续使用和模型替换提供判断依据，降低不适用模型影响通信的风险。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技术概述：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波束预测模型部署到终端后，仍需判断当前环境是否符合其适用条件，以及预测是否得到实测支持。苹果提出在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UE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侧持续检查模型的适用条件、输出分布和预测准确性，并将评价结果用于模型管理。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方案将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“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当前条件是否适合模型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”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与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“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模型预测是否准确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”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分开判断，同时分别记录启用状态和验证状态。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启用模型的结果参与通信，未启用模型也可以生成供评估的预测，为后续使用积累依据。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输入包括波束对测量、运行条件、模型配置和预测结果。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模型输出预测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RSRP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与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Top-K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波束对，验证模块输出性能评分和有效性状态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UE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据此管理模型使用，并向服务器反馈。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检查环境与输入是否符合模型适用范围。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KPI-3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检查信噪比、多普勒、时延扩展等运行条件，以及输入数据是否符合模型预期。对于不适用或异常输入，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UE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可以暂不进行推理和有效性判断。这样，测试能够保留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当前样本不适合评价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的情况，避免将输入问题直接归为模型失效。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检查预测输出是否具有异常特征。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模型产生预测后，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KPI-2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检查输出分布是否符合正常特征，原文列举单类支持向量机等异常检测工具。输出异常时，可以暂不进入准确性评价。这一步提供异常筛查，后续仍需要实测结果确认预测表现。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取得对应实测结果，形成模型有效性评价。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UE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上报预测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Top-K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波束对，基站发送相应信号，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UE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再进行测量。验证模块比较同一波束对的预测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RSRP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与实测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RSRP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，并对有效性指标进行平滑，形成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KPI-1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，使评价建立在可对应的预测和观测上。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管理状态，并将验证结果反馈给服务器。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未启用模型可以接受评估，模型失效时，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UE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可退回依据实测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RSRP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选择波束。性能评分和模型标识上报服务器，为更新或重新训练提供依据。测试记录需要关联模型版本、运行条件和状态变化，才能追溯一次评分对应的实际配置。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研究成熟度与启示：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公开文本给出流程和可选评价工具，未提供可复现代码及定量实验。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终端测试应分别记录输入适用性、输出异常和预测误差，并检查失效后的回退结果。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监控周期、判定门限和补充测量范围需要结合实验目标设计。评价时应同时关注验证可靠性与额外测量开销。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874657" y="324566"/>
            <a:ext cx="3967782" cy="64180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[4] APPLE INC. Dynamic model management and post-deployment verification for beam management spatial prediction: US20260039366A1[P]. 2026-02-05.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5507725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方向二：通信</a:t>
            </a:r>
            <a:r>
              <a:rPr lang="en-US" altLang="zh-CN" sz="2800" b="1" dirty="0"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算法的测试验收</a:t>
            </a:r>
            <a:endParaRPr lang="zh-CN" altLang="en-US" sz="2800" b="1" dirty="0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258445" y="1025948"/>
            <a:ext cx="11734165" cy="554335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2. </a:t>
            </a:r>
            <a:r>
              <a:rPr lang="zh-CN" altLang="en-US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苹果专利：波束预测联合验收</a:t>
            </a: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同时检查波束选择与功率预测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charset="-122"/>
                <a:ea typeface="微软雅黑" charset="-122"/>
                <a:cs typeface="+mn-ea"/>
                <a:sym typeface="+mn-ea"/>
              </a:rPr>
              <a:t>[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charset="0"/>
                <a:ea typeface="微软雅黑" charset="0"/>
                <a:cs typeface="+mn-ea"/>
                <a:sym typeface="+mn-ea"/>
              </a:rPr>
              <a:t>5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charset="-122"/>
                <a:ea typeface="微软雅黑" charset="-122"/>
                <a:cs typeface="+mn-ea"/>
                <a:sym typeface="+mn-ea"/>
              </a:rPr>
              <a:t>]</a:t>
            </a:r>
            <a:endParaRPr lang="zh-CN" altLang="en-US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创新与价值：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波束预测既要找到合适的候选，也要提供可信的信号强度估计。仅检查波束标识是否命中，可能忽略功率预测失准；仅检查功率误差，也可能遗漏候选选择问题。该方法将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波束标识与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RSRP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纳入共同的容差判据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，使测试结论同时反映两类输出的质量。其价值在于完善验收依据，并通过可配置容差适应不同测试要求。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技术概述：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终端利用已有波束测量预测候选波束，并输出相应的接收功率。评价时，需要取得实测参照，检查预测候选与实测候选之间的对应关系。苹果提出将波束身份与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RSRP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放在两个维度上，设置可配置的容差范围，形成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二维容差框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。测试时将预测与参考配对，检查两者是否满足联合要求，并允许针对不同候选设置不同条件。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输入包括部分波束的测量与身份、模型预测结果、参考测量及容差参数。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模型输出候选波束身份和预测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RSRP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，测试模块输出匹配及通过结果。联合结论用于判定，两项误差仍应分别保存，以便解释失败原因。</a:t>
            </a:r>
            <a:endParaRPr lang="zh-CN" altLang="en-US" sz="14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建立包含波束身份和功率的测量参考。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通过参考测量识别较强波束，保存其身份及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RSRP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，再从模型输出中选取较强候选进行比较。测试需要明确参考范围、接收配置和数据对应关系，使身份评价与功率评价使用一致的依据。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设置两个维度的容差，联合检查预测与参考。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分别规定允许的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RSRP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偏差和波束身份偏差，形成容差框。配对后的预测和参考落入同一框时，可以按相应规则通过。这样，测试能够同时约束身份与功率，减少单项指标带来的遗漏。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根据候选优先级配置判定条件。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原文允许为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Top-K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波束设置多个容差框，最佳波束采用较严条件，后续候选可以放宽。具体比较哪些配对、采用多大的容差，需要写入测试配置，使不同模型版本接受相同规则。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通过复测处理短时间内的功率变化。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部分实施例允许两次检查中波束身份均达标，而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RSRP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至少一次达标，为短时波动提供容忍方式。复测条件应提前确定，并保存每次测量结果，避免仅保留最终通过结论而丢失变化过程。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研究成熟度与启示：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专利给出判据和示意案例，未提供定量对照实验或通用门限。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应用重点是明确参考、配对、容差和复测规则，并保留两个维度的结果。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632607" y="324566"/>
            <a:ext cx="4331389" cy="64180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[5] APPLE INC. Beam measurement accuracy test metric for artificial intelligence / machine language (AI/ML) based beam management: WO2025212462A1[P]. 2025-10-09.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5539926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方向二：通信</a:t>
            </a:r>
            <a:r>
              <a:rPr lang="en-US" altLang="zh-CN" sz="2800" b="1" dirty="0"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算法的测试验收</a:t>
            </a:r>
            <a:endParaRPr lang="zh-CN" altLang="en-US" sz="2800" b="1" dirty="0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258445" y="1025948"/>
            <a:ext cx="11734165" cy="557654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3. </a:t>
            </a:r>
            <a:r>
              <a:rPr lang="zh-CN" altLang="en-US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论文与开源框架：</a:t>
            </a: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OAIC-T——</a:t>
            </a:r>
            <a:r>
              <a:rPr lang="zh-CN" altLang="en-US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组织自动化测试，探索通信</a:t>
            </a: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的失效场景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charset="-122"/>
                <a:ea typeface="微软雅黑" charset="-122"/>
                <a:cs typeface="+mn-ea"/>
                <a:sym typeface="+mn-ea"/>
              </a:rPr>
              <a:t>[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charset="0"/>
                <a:ea typeface="微软雅黑" charset="0"/>
                <a:cs typeface="+mn-ea"/>
                <a:sym typeface="+mn-ea"/>
              </a:rPr>
              <a:t>6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charset="-122"/>
                <a:ea typeface="微软雅黑" charset="-122"/>
                <a:cs typeface="+mn-ea"/>
                <a:sym typeface="+mn-ea"/>
              </a:rPr>
              <a:t>]</a:t>
            </a:r>
            <a:endParaRPr lang="zh-CN" altLang="en-US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创新与价值：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通信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接入系统后，需要在不同输入和业务条件下检查其实际决策效果。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OAIC-T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将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测试配置、任务分发、动作执行和结果记录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组织成统一框架，并引入智能生成测试输入的思路，尝试发现固定用例难以覆盖的异常条件。其价值在于提高测试的可重复性，为模型更新后的比较与问题复现提供系统基础。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技术概述：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框架直接面向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O-RAN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中的网络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控制应用。测试人员配置场景与步骤，由服务器统一组织执行节点，再通过适配器向被测系统施加输入、取得反馈。被测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承担通信控制，测试侧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辅助探索输入，两者职责不同。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系统输入</a:t>
            </a: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包括测试配置、脚本、动作参数及测试数据</a:t>
            </a:r>
            <a:r>
              <a:rPr lang="zh-CN" altLang="en-US" sz="1400" b="1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；执行输出</a:t>
            </a: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包括运行状态、日志和性能结果。验收还需预先定义评价指标与通过条件，不能仅依据脚本执行成功判定模型合格。</a:t>
            </a:r>
            <a:endParaRPr lang="zh-CN" altLang="en-US" sz="1400" dirty="0">
              <a:solidFill>
                <a:srgbClr val="00000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用配置文件和脚本固定测试条件与步骤。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配置描述节点和环境，脚本描述动作顺序及参数。将测试过程保存下来，便于在相同条件下重新执行，也使模型或控制程序更新后的对照具有一致基础。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由服务器协调任务，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Actor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完成具体交互。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服务器检查脚本、分配动作并监控状态，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Actor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通过适配器与被测系统交互。任务组织与系统接口分开后，可以保留执行框架，逐步替换或增加被测对象。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探索容易触发异常的输入组合。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论文讨论敏感性分析、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模糊测试和强化学习等方法，帮助探索较大的输入空间。项目官方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v2.0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公告明确列出，使用遗传算法生成不同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UE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流量，测试流量平衡方法。论文提出的研究范围与各版本已实现能力需要分别核查。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保存过程与结果，支持失败复现和回归测试。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记录配置、动作及系统响应，并汇总吞吐量、时延或丢包等性能指标。发现异常后，可以定位到对应条件；修正模型或程序后，再运行相同测试，观察问题是否仍然存在。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研究成熟度与启示：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项目已有公开代码和运行文档，可从文档给出的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ZeroMQ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虚拟无线模式开始复现。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迁移到终端时，可以将读取测量、获取预测、取得参考和计算误差写成测试动作，再由脚本统一组织。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实际工作仍需补齐终端与仪表适配器，以及对应判据。基础自动化与主动场景搜索可以分阶段建设。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401842" y="178864"/>
            <a:ext cx="4537731" cy="78750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[6] TANG B, SHAH V K, MAROJEVIC V, et al. AI testing framework for Next-G O-RAN networks: Requirements, design, and research opportunities[J]. IEEE Wireless Communications, 2023, 30(1): 70-77. DOI: 10.1109/MWC.001.2200213.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5538115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方向二：通信</a:t>
            </a:r>
            <a:r>
              <a:rPr lang="en-US" altLang="zh-CN" sz="2800" b="1" dirty="0"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2800" b="1" dirty="0">
                <a:latin typeface="微软雅黑" charset="-122"/>
                <a:ea typeface="微软雅黑" charset="-122"/>
                <a:sym typeface="+mn-ea"/>
              </a:rPr>
              <a:t>算法的测试验收</a:t>
            </a:r>
            <a:endParaRPr lang="zh-CN" altLang="en-US" sz="2800" b="1" dirty="0"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258445" y="1025948"/>
            <a:ext cx="11734165" cy="548982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4.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论文：终端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波束管理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 OTA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测试</a:t>
            </a: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sym typeface="+mn-ea"/>
              </a:rPr>
              <a:t>重建多波束环境，提供可靠输入与验证依据</a:t>
            </a:r>
            <a:r>
              <a:rPr lang="en-US" altLang="zh-CN" b="1" baseline="30000" dirty="0">
                <a:solidFill>
                  <a:srgbClr val="000000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cs typeface="+mn-ea"/>
                <a:sym typeface="+mn-ea"/>
              </a:rPr>
              <a:t>[</a:t>
            </a:r>
            <a:r>
              <a:rPr lang="en-US" altLang="zh-CN" b="1" baseline="30000" dirty="0">
                <a:solidFill>
                  <a:srgbClr val="000000"/>
                </a:solidFill>
                <a:highlight>
                  <a:srgbClr val="FFFF00"/>
                </a:highlight>
                <a:latin typeface="微软雅黑" charset="0"/>
                <a:ea typeface="微软雅黑" charset="0"/>
                <a:cs typeface="+mn-ea"/>
                <a:sym typeface="+mn-ea"/>
              </a:rPr>
              <a:t>7</a:t>
            </a:r>
            <a:r>
              <a:rPr lang="en-US" altLang="zh-CN" b="1" baseline="30000" dirty="0">
                <a:solidFill>
                  <a:srgbClr val="000000"/>
                </a:solidFill>
                <a:highlight>
                  <a:srgbClr val="FFFF00"/>
                </a:highlight>
                <a:latin typeface="微软雅黑" charset="-122"/>
                <a:ea typeface="微软雅黑" charset="-122"/>
                <a:cs typeface="+mn-ea"/>
                <a:sym typeface="+mn-ea"/>
              </a:rPr>
              <a:t>]</a:t>
            </a:r>
            <a:endParaRPr lang="zh-CN" altLang="en-US" b="1" dirty="0">
              <a:solidFill>
                <a:schemeClr val="tx1"/>
              </a:solidFill>
              <a:highlight>
                <a:srgbClr val="FFFF00"/>
              </a:highlight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创新与价值：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波束预测依靠部分测量推断其他候选，测试系统必须同时保证输入测量与验证依据的可靠性。该方法在多探头暗室中考虑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不同基站发射波束对传播路径的影响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，利用固定探头布置重建多个波束对应的信道。其价值在于为终端波束预测提供更可信的无线测试条件，并根据测试范围选择完整覆盖或针对性重建，兼顾环境保真度与设备复杂度。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技术概述：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同一传播环境经过不同发射波束作用后，终端接收到的路径功率分布可能不同。仅重建最佳波束对应的信道，难以保证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输入波束与目标预测波束都得到准确呈现。论文提出按发射波束评价和优化信道重建，再用暗室测量数据验证终端侧波束预测模型。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测试系统输入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包括信道模型、发射波束配置、目标验证范围和重建门限；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输出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包括探头位置、信号权重及重建环境的测量结果。示例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模型以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8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个输入波束经功率排名预处理后的特征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为输入，输出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32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个候选波束对应的预测结果，再选择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Top-1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生成考虑基站波束作用的目标信道。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不同发射波束对传播路径施加不同增益，终端看到的功率分布随之变化。作者将波束增益加入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CDL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路径，并保留主导簇降低复杂度；测试前旋转目标信道分布，提高探头面板对重要路径的覆盖。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根据输入集合是否已知，确定重建范围。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方法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支持全部候选波束，适合输入集合未知的情况。方法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B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针对已知输入集合及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Top-K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参考目标构建环境，可以缩小重建范围、减少探头需求。两者体现测试配置灵活性与实现资源之间的取舍。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逐波束检查环境，并优先改善薄弱情况。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BPSP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比较目标与重建功率角谱，保留各波束的重建质量。算法针对最低相似度的情况补充探头、优化权重，直到达到门限。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BPSP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评价环境重建，模型准确率评价预测，两项结果需要分别报告。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通过真实装置和实测数据验证方法。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CDL-A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实验采用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1.5 m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测量距离，方法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B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分别使用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8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7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个探头。作者扫描实测功率角谱检查环境，再形成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1000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个模型验证样本。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Top-1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预测准确率为：仿真基准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97.7%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，方法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实测数据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73.1%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，方法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B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实测数据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93.5%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。方法</a:t>
            </a:r>
            <a:r>
              <a:rPr lang="en-US" altLang="zh-CN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B 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更接近基准，说明测试环境会影响同一模型的评估结果。</a:t>
            </a:r>
            <a:endParaRPr lang="zh-CN" altLang="en-US" sz="140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研究成熟度与启示：</a:t>
            </a:r>
            <a:r>
              <a:rPr lang="zh-CN" altLang="en-US" sz="140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已有仿真、暗室实测及模型验证，全文未提供代码和模型权重下载入口。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应用时应分别验收测试环境与</a:t>
            </a:r>
            <a:r>
              <a:rPr lang="en-US" altLang="zh-CN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 AI </a:t>
            </a:r>
            <a:r>
              <a:rPr lang="zh-CN" altLang="en-US" sz="1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功能，避免把重建误差归因于模型。</a:t>
            </a:r>
            <a:endParaRPr lang="zh-CN" altLang="en-US" sz="14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318584" y="162490"/>
            <a:ext cx="4655541" cy="80387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[7] WANG Z, YAN M, ZHAO W, et al. Over-the-air testing on artificial intelligence-based beam management evaluation of millimeter-wave devices[J]. IEEE Transactions on Antennas and Propagation, 2026, 74(3): 2770-2781. DOI: 10.1109/TAP.2025.3637525.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</p:nvPr>
        </p:nvSpPr>
        <p:spPr>
          <a:xfrm>
            <a:off x="5055235" y="2493010"/>
            <a:ext cx="2254250" cy="615315"/>
          </a:xfrm>
        </p:spPr>
        <p:txBody>
          <a:bodyPr>
            <a:noAutofit/>
          </a:bodyPr>
          <a:lstStyle/>
          <a:p>
            <a:r>
              <a:rPr lang="zh-CN" altLang="en-US" sz="5400" dirty="0">
                <a:latin typeface="微软雅黑" charset="-122"/>
                <a:ea typeface="微软雅黑" charset="-122"/>
              </a:rPr>
              <a:t>谢谢！</a:t>
            </a:r>
            <a:endParaRPr lang="zh-CN" altLang="en-US" sz="5400" dirty="0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9376</Words>
  <Application>WPS Office WWO_wpscloud_20260324165504-6975d99af8</Application>
  <PresentationFormat>宽屏</PresentationFormat>
  <Paragraphs>158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Century Gothic</vt:lpstr>
      <vt:lpstr>微软雅黑</vt:lpstr>
      <vt:lpstr>等线</vt:lpstr>
      <vt:lpstr>汉仪旗黑KW 55S</vt:lpstr>
      <vt:lpstr>微软雅黑 Light</vt:lpstr>
      <vt:lpstr>微软雅黑</vt:lpstr>
      <vt:lpstr>Times New Roman</vt:lpstr>
      <vt:lpstr>黑体</vt:lpstr>
      <vt:lpstr>Office 主题</vt:lpstr>
      <vt:lpstr>AI与通信融合研究进展调研三</vt:lpstr>
      <vt:lpstr>研究方向</vt:lpstr>
      <vt:lpstr>方向一：通过 AI 优化通信体验</vt:lpstr>
      <vt:lpstr>方向一：通过 AI 优化通信体验</vt:lpstr>
      <vt:lpstr>PowerPoint 演示文稿</vt:lpstr>
      <vt:lpstr>方向一：通过 AI 优化通信体验</vt:lpstr>
      <vt:lpstr>PowerPoint 演示文稿</vt:lpstr>
      <vt:lpstr>方向二：通信 AI 算法的测试验收</vt:lpstr>
      <vt:lpstr>方向二：通信 AI 算法的测试验收</vt:lpstr>
      <vt:lpstr>方向二：通信 AI 算法的测试验收</vt:lpstr>
      <vt:lpstr>方向二：通信 AI 算法的测试验收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AI与通信融合研究进展调研三</dc:title>
  <dc:creator>王辉(72025223)</dc:creator>
  <cp:lastModifiedBy>马忠良(72215133)</cp:lastModifiedBy>
  <dcterms:created xsi:type="dcterms:W3CDTF">2026-10-12T03:53:32Z</dcterms:created>
  <dcterms:modified xsi:type="dcterms:W3CDTF">2026-10-12T03:53:32Z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AB89DF995DB1049C2C37C86A86816B79_42</vt:lpwstr>
  </property>
  <property fmtid="{D5CDD505-2E9C-101B-9397-08002B2CF9AE}" pid="3" name="KSOProductBuildVer">
    <vt:lpwstr>2052-12.9.0.25403</vt:lpwstr>
  </property>
</Properties>
</file>