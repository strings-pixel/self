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20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备注占位符 2"/>
          <p:cNvSpPr/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/>
          <p:nvPr>
            <p:ph type="sldNum" sz="quarter" idx="5"/>
          </p:nvPr>
        </p:nvSpPr>
        <p:spPr/>
        <p:txBody>
          <a:bodyPr/>
          <a:lstStyle/>
          <a:p>
            <a:fld id="{6E17C6E9-B76F-4EEB-BC0B-74787FB92CC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幻灯片图像占位符 1"/>
          <p:cNvSpPr/>
          <p:nvPr>
            <p:ph type="sldImg" idx="2"/>
          </p:nvPr>
        </p:nvSpPr>
        <p:spPr/>
        <p:txBody>
          <a:bodyPr/>
          <a:p/>
        </p:txBody>
      </p:sp>
      <p:sp>
        <p:nvSpPr>
          <p:cNvPr id="40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这次调研围绕两个方向展开。第一是通信 </a:t>
            </a:r>
            <a:r>
              <a:rPr lang="en-US" altLang="zh-CN"/>
              <a:t>AI </a:t>
            </a:r>
            <a:r>
              <a:rPr lang="zh-CN" altLang="en-US"/>
              <a:t>功能测试验收，关注配置变化、模型部署和版本更新后，怎样判断终端 </a:t>
            </a:r>
            <a:r>
              <a:rPr lang="en-US" altLang="zh-CN"/>
              <a:t>AI </a:t>
            </a:r>
            <a:r>
              <a:rPr lang="zh-CN" altLang="en-US"/>
              <a:t>功能是否仍然可靠。找到的三篇专利分别对应关联配置验证、部署后监测，以及模型组合验收。</a:t>
            </a:r>
            <a:endParaRPr lang="zh-CN" altLang="en-US"/>
          </a:p>
          <a:p>
            <a:r>
              <a:rPr lang="zh-CN" altLang="en-US" sz="1800">
                <a:solidFill>
                  <a:schemeClr val="tx1"/>
                </a:solidFill>
              </a:rPr>
              <a:t>第二是Radio Map，它结合现有测量数据，研究怎样预测未测区域的覆盖情况，再据此寻找弱覆盖候选点、从而来安排后续补测。找到的三篇论文分别关注利用众包测量分析覆盖边界与薄弱区域、利用轨迹上的稀疏测量补全覆盖地图，以及结合仿真和少量实测估计三维覆盖并选择补测位置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幻灯片图像占位符 1"/>
          <p:cNvSpPr/>
          <p:nvPr>
            <p:ph type="sldImg" idx="2"/>
          </p:nvPr>
        </p:nvSpPr>
        <p:spPr/>
        <p:txBody>
          <a:bodyPr/>
          <a:p/>
        </p:txBody>
      </p:sp>
      <p:sp>
        <p:nvSpPr>
          <p:cNvPr id="40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首先看</a:t>
            </a:r>
            <a:r>
              <a:rPr lang="zh-CN" altLang="en-US">
                <a:cs typeface="Arial" panose="020B0604020202020204" pitchFamily="34" charset="0"/>
              </a:rPr>
              <a:t>方向一，方向一的</a:t>
            </a:r>
            <a:r>
              <a:rPr lang="zh-CN" altLang="en-US"/>
              <a:t>这篇诺基亚专利关注的是：当精确的真值难以获得时，怎样验证终端通信 </a:t>
            </a:r>
            <a:r>
              <a:rPr lang="en-US" altLang="zh-CN"/>
              <a:t>AI </a:t>
            </a:r>
            <a:r>
              <a:rPr lang="zh-CN" altLang="en-US"/>
              <a:t>的输出是否合理。 </a:t>
            </a:r>
            <a:r>
              <a:rPr lang="zh-CN" altLang="en-US" sz="1800">
                <a:solidFill>
                  <a:schemeClr val="tx1"/>
                </a:solidFill>
              </a:rPr>
              <a:t>专利提出利用配置之间的已知关系，检查模型输出的变化是否合理。</a:t>
            </a:r>
            <a:endParaRPr lang="zh-CN" altLang="en-US"/>
          </a:p>
          <a:p>
            <a:r>
              <a:rPr lang="zh-CN" altLang="en-US" sz="1800">
                <a:solidFill>
                  <a:schemeClr val="tx1"/>
                </a:solidFill>
              </a:rPr>
              <a:t>具体来说，终端将参考信号的测量结果，以及模型需要的配置信息作为输入，输出波束、功率或位置预测。测试时，先记录基准配置下的结果，再构造关联配置，让同一个模型再次推理。关键是事先明确输出应该怎样变化。例如，在信道条件可比、资源正确对应的前提下，重排扫描顺序，可以检查同一目标的预测是否保持一致；统一改变发射功率时，则应检查预测功率是否作出相应变化。</a:t>
            </a:r>
            <a:endParaRPr lang="zh-CN" altLang="en-US"/>
          </a:p>
          <a:p>
            <a:r>
              <a:rPr lang="zh-CN" altLang="en-US"/>
              <a:t>右侧流程图展示了这一过程：先保存基准预测，再构造关联配置，获得第二组结果，随后根据预期关系和容差进行判断。满足要求时，可以继续测试其他配置；偏差超过限制时，则进一步复测，或采取停用、重新训练等措施。</a:t>
            </a:r>
            <a:endParaRPr lang="zh-CN" altLang="en-US"/>
          </a:p>
          <a:p>
            <a:r>
              <a:rPr lang="zh-CN" altLang="en-US"/>
              <a:t>这种关系检查能够补充模型验证，但完整验收仍需结合具体的预测精度和实际通信效果。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幻灯片图像占位符 1"/>
          <p:cNvSpPr/>
          <p:nvPr>
            <p:ph type="sldImg" idx="2"/>
          </p:nvPr>
        </p:nvSpPr>
        <p:spPr/>
        <p:txBody>
          <a:bodyPr/>
          <a:p/>
        </p:txBody>
      </p:sp>
      <p:sp>
        <p:nvSpPr>
          <p:cNvPr id="40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 sz="1800">
                <a:solidFill>
                  <a:schemeClr val="tx1"/>
                </a:solidFill>
              </a:rPr>
              <a:t>第二篇关注通信AI模型部署以后，如何持续判断它是否适合当前环境。比如手机切换到新的小区，传播条件发生变化，原来的波束预测模型就可能表现下降。</a:t>
            </a:r>
            <a:endParaRPr lang="zh-CN" altLang="en-US" sz="1800">
              <a:solidFill>
                <a:schemeClr val="tx1"/>
              </a:solidFill>
            </a:endParaRPr>
          </a:p>
          <a:p>
            <a:r>
              <a:rPr lang="zh-CN" altLang="en-US" sz="1800">
                <a:solidFill>
                  <a:schemeClr val="tx1"/>
                </a:solidFill>
              </a:rPr>
              <a:t>它首先为每个模型记录标识、版本和验证状态，再由网络配置监测条件，告诉终端什么时候需要检查。例如，小区变化、信号下降，或者预测值与实测值偏差较大，都可以触发监测。这里要注意，触发监测只是说明需要检查，并不代表模型已经失效了。</a:t>
            </a:r>
            <a:endParaRPr lang="zh-CN" altLang="en-US" sz="1800">
              <a:solidFill>
                <a:schemeClr val="tx1"/>
              </a:solidFill>
            </a:endParaRPr>
          </a:p>
          <a:p>
            <a:r>
              <a:rPr lang="zh-CN" altLang="en-US" sz="1800">
                <a:solidFill>
                  <a:schemeClr val="tx1"/>
                </a:solidFill>
              </a:rPr>
              <a:t>结合右侧流程图，终端完成监测后，会反馈评分或测量结果。当前模型表现良好就继续使用；表现不好，则寻找在相近条件下表现合格的候选模型，没有合适候选就回退为传统方案。网络也可以直接下发切换指令。可以借鉴它将监测条件、模型表现和后续处理关联起来的思路，使测试结果能够支持模型继续使用、更换或停用的判断。</a:t>
            </a:r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幻灯片图像占位符 1"/>
          <p:cNvSpPr/>
          <p:nvPr>
            <p:ph type="sldImg" idx="2"/>
          </p:nvPr>
        </p:nvSpPr>
        <p:spPr/>
        <p:txBody>
          <a:bodyPr/>
          <a:p/>
        </p:txBody>
      </p:sp>
      <p:sp>
        <p:nvSpPr>
          <p:cNvPr id="40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第三篇把验收对象从单个模型扩展到了整个模型组合。终端里的模型可能相互依赖，比如前一个模型的输出会影响后一个模型。因此，一个模型单独测试变好了，组合起来完成通信功能时，整体表现仍可能下降。</a:t>
            </a:r>
            <a:endParaRPr lang="zh-CN" altLang="en-US"/>
          </a:p>
          <a:p>
            <a:r>
              <a:rPr lang="zh-CN" altLang="en-US" sz="1800">
                <a:solidFill>
                  <a:schemeClr val="tx1"/>
                </a:solidFill>
              </a:rPr>
              <a:t>结合右侧流程图，终端收到新模型后，先将它标记为待测试。随后进行两次回归测试：第一次使用旧版本或传统代码建立基准；第二次将新模型加入现有组合。两组测试都要观察组合的最终输出，并记录功能性能、功耗和计算资源，比较后再决定接受还是拒绝更新，并向网络反馈。</a:t>
            </a:r>
            <a:endParaRPr lang="zh-CN" altLang="en-US"/>
          </a:p>
          <a:p>
            <a:r>
              <a:rPr lang="zh-CN" altLang="en-US"/>
              <a:t>它强调的是，新模型能否通过验收，要看它在指定组合中的实际表现。使用后如果出现退化，还需要进一步定位相关模型并采取恢复或更新措施。</a:t>
            </a:r>
            <a:r>
              <a:rPr lang="zh-CN" altLang="en-US" sz="1800">
                <a:solidFill>
                  <a:schemeClr val="tx1"/>
                </a:solidFill>
              </a:rPr>
              <a:t>这篇的价值，就是把模型更新的验收依据，从单模型误差扩展到组合功能和整体资源开销；目前主要还是机制设计，具体指标和门限需要通过后续实验进一步确定。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幻灯片图像占位符 1"/>
          <p:cNvSpPr/>
          <p:nvPr>
            <p:ph type="sldImg" idx="2"/>
          </p:nvPr>
        </p:nvSpPr>
        <p:spPr/>
        <p:txBody>
          <a:bodyPr/>
          <a:p/>
        </p:txBody>
      </p:sp>
      <p:sp>
        <p:nvSpPr>
          <p:cNvPr id="40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 sz="1800">
                <a:solidFill>
                  <a:schemeClr val="tx1"/>
                </a:solidFill>
              </a:rPr>
              <a:t>方向二首先介绍沃达丰的这项研究，它关注的是，怎样把手机在不同位置留下的零散测量，整理成能够帮助查找覆盖问题的地图。</a:t>
            </a:r>
            <a:endParaRPr lang="zh-CN" altLang="en-US" sz="1800">
              <a:solidFill>
                <a:schemeClr val="tx1"/>
              </a:solidFill>
            </a:endParaRPr>
          </a:p>
          <a:p>
            <a:r>
              <a:rPr lang="zh-CN" altLang="en-US" sz="1800">
                <a:solidFill>
                  <a:schemeClr val="tx1"/>
                </a:solidFill>
              </a:rPr>
              <a:t>研究先按照小区和信号等级对测量进行分组，再根据测量位置学习各等级的覆盖边界。传统凸包法相当于用最外围的点围出一个区域，容易把中间实际没有覆盖的地方也包进去。这个研究采用单类支持向量机，让边界更贴合测量点的空间分布，能够表达凹陷和局部空洞，最终得到不同信号等级对应的地理范围。</a:t>
            </a:r>
            <a:endParaRPr lang="zh-CN" altLang="en-US" sz="1800">
              <a:solidFill>
                <a:schemeClr val="tx1"/>
              </a:solidFill>
            </a:endParaRPr>
          </a:p>
          <a:p>
            <a:r>
              <a:rPr lang="zh-CN" altLang="en-US" sz="1800">
                <a:solidFill>
                  <a:schemeClr val="tx1"/>
                </a:solidFill>
              </a:rPr>
              <a:t>验证时，作者使用较早时期的数据建模，再用后续数据检验。右图展示了40</a:t>
            </a:r>
            <a:r>
              <a:rPr lang="en-US" altLang="zh-CN" sz="1800">
                <a:solidFill>
                  <a:schemeClr val="tx1"/>
                </a:solidFill>
              </a:rPr>
              <a:t>00</a:t>
            </a:r>
            <a:r>
              <a:rPr lang="zh-CN" altLang="en-US" sz="1800">
                <a:solidFill>
                  <a:schemeClr val="tx1"/>
                </a:solidFill>
              </a:rPr>
              <a:t>多个小区的平均F1对比，五类信号条件下，单类支持向量机的</a:t>
            </a:r>
            <a:r>
              <a:rPr lang="en-US" altLang="zh-CN" sz="1800">
                <a:solidFill>
                  <a:schemeClr val="tx1"/>
                </a:solidFill>
              </a:rPr>
              <a:t>F1</a:t>
            </a:r>
            <a:r>
              <a:rPr lang="zh-CN" altLang="en-US" sz="1800">
                <a:solidFill>
                  <a:schemeClr val="tx1"/>
                </a:solidFill>
              </a:rPr>
              <a:t>结果都优于凸包法。不过，绝对分数仍然偏低，说明方法有所改善，但判断结果还需要进一步验证。</a:t>
            </a:r>
            <a:r>
              <a:rPr lang="zh-CN" altLang="en-US" sz="1800">
                <a:solidFill>
                  <a:schemeClr val="tx1"/>
                </a:solidFill>
                <a:highlight>
                  <a:srgbClr val="FFFF00"/>
                </a:highlight>
              </a:rPr>
              <a:t>（掌握</a:t>
            </a:r>
            <a:r>
              <a:rPr lang="en-US" altLang="zh-CN" sz="1800">
                <a:solidFill>
                  <a:schemeClr val="tx1"/>
                </a:solidFill>
                <a:highlight>
                  <a:srgbClr val="FFFF00"/>
                </a:highlight>
              </a:rPr>
              <a:t>F1</a:t>
            </a:r>
            <a:r>
              <a:rPr lang="zh-CN" altLang="en-US" sz="1800">
                <a:solidFill>
                  <a:schemeClr val="tx1"/>
                </a:solidFill>
                <a:highlight>
                  <a:srgbClr val="FFFF00"/>
                </a:highlight>
              </a:rPr>
              <a:t>是什么，怎么算的，还有纵轴的五种情况分别是什么）</a:t>
            </a:r>
            <a:endParaRPr lang="zh-CN" altLang="en-US" sz="1800">
              <a:solidFill>
                <a:schemeClr val="tx1"/>
              </a:solidFill>
              <a:highlight>
                <a:srgbClr val="FFFF00"/>
              </a:highlight>
            </a:endParaRPr>
          </a:p>
          <a:p>
            <a:r>
              <a:rPr lang="zh-CN" altLang="en-US" sz="1800">
                <a:solidFill>
                  <a:schemeClr val="tx1"/>
                </a:solidFill>
              </a:rPr>
              <a:t>这个研究的价值是可以将数据库中的测量数据转化为分级覆盖区域，再结合弱信号和失去服务的记录，筛选值得复测的位置，为路线设计提供依据。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幻灯片图像占位符 1"/>
          <p:cNvSpPr/>
          <p:nvPr>
            <p:ph type="sldImg" idx="2"/>
          </p:nvPr>
        </p:nvSpPr>
        <p:spPr/>
        <p:txBody>
          <a:bodyPr/>
          <a:p/>
        </p:txBody>
      </p:sp>
      <p:sp>
        <p:nvSpPr>
          <p:cNvPr id="40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 sz="1800">
                <a:solidFill>
                  <a:schemeClr val="tx1"/>
                </a:solidFill>
              </a:rPr>
              <a:t>再来看</a:t>
            </a:r>
            <a:r>
              <a:rPr lang="zh-CN" altLang="en-US" sz="1800">
                <a:solidFill>
                  <a:schemeClr val="tx1"/>
                </a:solidFill>
                <a:cs typeface="Arial" panose="020B0604020202020204" pitchFamily="34" charset="0"/>
              </a:rPr>
              <a:t>第二篇介绍</a:t>
            </a:r>
            <a:r>
              <a:rPr lang="zh-CN" altLang="en-US" sz="1800">
                <a:solidFill>
                  <a:schemeClr val="tx1"/>
                </a:solidFill>
              </a:rPr>
              <a:t>轨迹条件扩散模型TrajectoryDiff。它针对的问题是：手机测量数据集中在已经走过的道路上，没有经过的区域缺少数据，那要怎样利用这些零散测量补出完整覆盖地图。</a:t>
            </a:r>
            <a:endParaRPr lang="zh-CN" altLang="en-US" sz="1800">
              <a:solidFill>
                <a:schemeClr val="tx1"/>
              </a:solidFill>
            </a:endParaRPr>
          </a:p>
          <a:p>
            <a:r>
              <a:rPr lang="zh-CN" altLang="en-US" sz="1800">
                <a:solidFill>
                  <a:schemeClr val="tx1"/>
                </a:solidFill>
              </a:rPr>
              <a:t>论文指出不仅需要输入信号测量值，还需要告诉模型采样位置在哪里、哪些地方采得密、哪些地方完全没采到，并结合建筑分布和发射机位置生成地图。生成过程中，既要求结果符合已有测量，也要加入信号传播趋势的约束，以减少不合理的补全。</a:t>
            </a:r>
            <a:endParaRPr lang="zh-CN" altLang="en-US" sz="1800">
              <a:solidFill>
                <a:schemeClr val="tx1"/>
              </a:solidFill>
            </a:endParaRPr>
          </a:p>
          <a:p>
            <a:r>
              <a:rPr lang="zh-CN" altLang="en-US" sz="1800">
                <a:solidFill>
                  <a:schemeClr val="tx1"/>
                </a:solidFill>
              </a:rPr>
              <a:t>右侧比较的是不同方案对于未采样区域的重建误差。基线误差最低的是IDW为8.09，而论文方案TrajectoryDiff单次生成的误差为7.33；使用相同测量生成10张地图后取平均，能够将误差进一步降到5.68。多次生成之间的差异还能反映哪里估计不稳定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幻灯片图像占位符 1"/>
          <p:cNvSpPr/>
          <p:nvPr>
            <p:ph type="sldImg" idx="2"/>
          </p:nvPr>
        </p:nvSpPr>
        <p:spPr/>
        <p:txBody>
          <a:bodyPr/>
          <a:p/>
        </p:txBody>
      </p:sp>
      <p:sp>
        <p:nvSpPr>
          <p:cNvPr id="40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 sz="1800">
                <a:solidFill>
                  <a:schemeClr val="tx1"/>
                </a:solidFill>
                <a:cs typeface="Arial" panose="020B0604020202020204" pitchFamily="34" charset="0"/>
              </a:rPr>
              <a:t>最后这篇也是研究怎样利用少量实测测量，补全其他位置的信号覆盖信息。城市中不同位置和高度的信号差异很大，如果逐点测量，采集成本会比较高。</a:t>
            </a:r>
            <a:endParaRPr lang="zh-CN" altLang="en-US" sz="1800">
              <a:solidFill>
                <a:schemeClr val="tx1"/>
              </a:solidFill>
              <a:cs typeface="Arial" panose="020B0604020202020204" pitchFamily="34" charset="0"/>
            </a:endParaRPr>
          </a:p>
          <a:p>
            <a:r>
              <a:rPr lang="zh-CN" altLang="en-US" sz="1800">
                <a:solidFill>
                  <a:schemeClr val="tx1"/>
                </a:solidFill>
                <a:cs typeface="Arial" panose="020B0604020202020204" pitchFamily="34" charset="0"/>
              </a:rPr>
              <a:t>作者先根据建筑和基站信息，通过射线追踪生成初步地图，再计算已测位置的仿真误差。随后利用高斯过程回归，学习这些误差与位置、仿真信号之间的关系，预测未测位置需要怎样修正，最终得到补全后的三维覆盖地图。</a:t>
            </a:r>
            <a:endParaRPr lang="zh-CN" altLang="en-US" sz="1800">
              <a:solidFill>
                <a:schemeClr val="tx1"/>
              </a:solidFill>
              <a:cs typeface="Arial" panose="020B0604020202020204" pitchFamily="34" charset="0"/>
            </a:endParaRPr>
          </a:p>
          <a:p>
            <a:r>
              <a:rPr lang="zh-CN" altLang="en-US" sz="1800">
                <a:solidFill>
                  <a:schemeClr val="tx1"/>
                </a:solidFill>
                <a:cs typeface="Arial" panose="020B0604020202020204" pitchFamily="34" charset="0"/>
              </a:rPr>
              <a:t>论文还提供了两种选点方式：一种边测边更新，优先补测预测最不确定的位置；另一种提前聚类，一次选出一批代表点。右图显示，在本文数据集上，两种方案使用约2%的测量点，可以达到约10 dB的预测误差，比部分对比方法需要的测量量更少。</a:t>
            </a:r>
            <a:endParaRPr lang="zh-CN" altLang="en-US" sz="1800">
              <a:solidFill>
                <a:schemeClr val="tx1"/>
              </a:solidFill>
              <a:cs typeface="Arial" panose="020B0604020202020204" pitchFamily="34" charset="0"/>
            </a:endParaRPr>
          </a:p>
          <a:p>
            <a:r>
              <a:rPr lang="zh-CN" altLang="en-US" sz="1800">
                <a:solidFill>
                  <a:schemeClr val="tx1"/>
                </a:solidFill>
                <a:cs typeface="Arial" panose="020B0604020202020204" pitchFamily="34" charset="0"/>
              </a:rPr>
              <a:t>这个研究可以借鉴它利用已有测量建图、指导后续补测的思路。不过，这套方案需要建筑和仿真信息，而且预测不确定的位置未必就是弱覆盖位置，还需要结合信号强度门限筛选，再通过实际测量进行确认。</a:t>
            </a:r>
            <a:endParaRPr lang="zh-CN" altLang="en-US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 userDrawn="1"/>
        </p:nvSpPr>
        <p:spPr>
          <a:xfrm>
            <a:off x="383647" y="1073427"/>
            <a:ext cx="11424706" cy="4515807"/>
          </a:xfrm>
          <a:prstGeom prst="rect">
            <a:avLst/>
          </a:prstGeom>
          <a:solidFill>
            <a:srgbClr val="005BAC">
              <a:alpha val="85000"/>
            </a:srgbClr>
          </a:solidFill>
          <a:ln w="12700" cap="flat" cmpd="sng" algn="ctr">
            <a:solidFill>
              <a:srgbClr val="005BA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74" name="文本占位符 73"/>
          <p:cNvSpPr/>
          <p:nvPr>
            <p:ph type="body" sz="quarter" idx="11" hasCustomPrompt="1"/>
          </p:nvPr>
        </p:nvSpPr>
        <p:spPr>
          <a:xfrm>
            <a:off x="4583773" y="4851298"/>
            <a:ext cx="3024188" cy="358941"/>
          </a:xfrm>
        </p:spPr>
        <p:txBody>
          <a:bodyPr anchor="ctr" anchorCtr="0"/>
          <a:lstStyle>
            <a:lvl1pPr algn="ctr">
              <a:defRPr sz="1800" b="1" i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>
              <a:defRPr b="0" i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>
              <a:defRPr b="0" i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>
              <a:defRPr b="0" i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>
              <a:defRPr b="0" i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</a:lstStyle>
          <a:p>
            <a:pPr lvl="0"/>
            <a:r>
              <a:rPr kumimoji="1" lang="zh-CN" altLang="en-US" dirty="0"/>
              <a:t>单击此处编辑</a:t>
            </a:r>
            <a:endParaRPr kumimoji="1" lang="zh-CN" altLang="en-US" dirty="0"/>
          </a:p>
        </p:txBody>
      </p:sp>
      <p:sp>
        <p:nvSpPr>
          <p:cNvPr id="76" name="标题 75"/>
          <p:cNvSpPr/>
          <p:nvPr>
            <p:ph type="title" hasCustomPrompt="1"/>
          </p:nvPr>
        </p:nvSpPr>
        <p:spPr>
          <a:xfrm>
            <a:off x="1523867" y="2087714"/>
            <a:ext cx="9144000" cy="738664"/>
          </a:xfrm>
        </p:spPr>
        <p:txBody>
          <a:bodyPr/>
          <a:lstStyle>
            <a:lvl1pPr algn="ctr">
              <a:defRPr sz="480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kumimoji="1" lang="zh-CN" altLang="en-US" dirty="0"/>
              <a:t>编辑标题样式</a:t>
            </a:r>
            <a:endParaRPr kumimoji="1" lang="zh-CN" altLang="en-US" dirty="0"/>
          </a:p>
        </p:txBody>
      </p:sp>
      <p:sp>
        <p:nvSpPr>
          <p:cNvPr id="79" name="文本占位符 78"/>
          <p:cNvSpPr/>
          <p:nvPr>
            <p:ph type="body" sz="quarter" idx="12" hasCustomPrompt="1"/>
          </p:nvPr>
        </p:nvSpPr>
        <p:spPr>
          <a:xfrm>
            <a:off x="3431248" y="4266698"/>
            <a:ext cx="5329238" cy="440681"/>
          </a:xfrm>
        </p:spPr>
        <p:txBody>
          <a:bodyPr anchor="ctr"/>
          <a:lstStyle>
            <a:lvl1pPr algn="ctr">
              <a:defRPr sz="2000" b="1" i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pPr lvl="0"/>
            <a:r>
              <a:rPr kumimoji="1" lang="zh-CN" altLang="en-US" dirty="0"/>
              <a:t>电子信息与通信学院</a:t>
            </a:r>
            <a:endParaRPr kumimoji="1" lang="zh-CN" altLang="en-US" dirty="0"/>
          </a:p>
        </p:txBody>
      </p:sp>
      <p:sp>
        <p:nvSpPr>
          <p:cNvPr id="14" name="矩形 13"/>
          <p:cNvSpPr/>
          <p:nvPr userDrawn="1"/>
        </p:nvSpPr>
        <p:spPr>
          <a:xfrm>
            <a:off x="383647" y="508498"/>
            <a:ext cx="144000" cy="144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5BA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5" name="矩形 14"/>
          <p:cNvSpPr/>
          <p:nvPr userDrawn="1"/>
        </p:nvSpPr>
        <p:spPr>
          <a:xfrm flipH="1">
            <a:off x="11664353" y="508498"/>
            <a:ext cx="144000" cy="144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5BA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191344" y="305562"/>
            <a:ext cx="288000" cy="288000"/>
          </a:xfrm>
          <a:prstGeom prst="rect">
            <a:avLst/>
          </a:prstGeom>
          <a:solidFill>
            <a:srgbClr val="005BAC"/>
          </a:solidFill>
          <a:ln w="12700" cap="flat" cmpd="sng" algn="ctr">
            <a:solidFill>
              <a:srgbClr val="005BA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7" name="矩形 16"/>
          <p:cNvSpPr/>
          <p:nvPr userDrawn="1"/>
        </p:nvSpPr>
        <p:spPr>
          <a:xfrm flipH="1">
            <a:off x="11712656" y="305562"/>
            <a:ext cx="288000" cy="288000"/>
          </a:xfrm>
          <a:prstGeom prst="rect">
            <a:avLst/>
          </a:prstGeom>
          <a:solidFill>
            <a:srgbClr val="005BAC"/>
          </a:solidFill>
          <a:ln w="12700" cap="flat" cmpd="sng" algn="ctr">
            <a:solidFill>
              <a:srgbClr val="005BA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18" name="直接连接符 23"/>
          <p:cNvCxnSpPr>
            <a:stCxn id="14" idx="2"/>
            <a:endCxn id="15" idx="2"/>
          </p:cNvCxnSpPr>
          <p:nvPr userDrawn="1"/>
        </p:nvCxnSpPr>
        <p:spPr>
          <a:xfrm>
            <a:off x="455647" y="652498"/>
            <a:ext cx="11280706" cy="0"/>
          </a:xfrm>
          <a:prstGeom prst="line">
            <a:avLst/>
          </a:prstGeom>
          <a:noFill/>
          <a:ln w="6350" cap="flat" cmpd="sng" algn="ctr">
            <a:solidFill>
              <a:srgbClr val="005BAD"/>
            </a:solidFill>
            <a:prstDash val="solid"/>
            <a:miter lim="800000"/>
          </a:ln>
          <a:effectLst/>
        </p:spPr>
      </p:cxn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8002" y="5776087"/>
            <a:ext cx="1235730" cy="938799"/>
          </a:xfrm>
          <a:prstGeom prst="rect">
            <a:avLst/>
          </a:prstGeom>
        </p:spPr>
      </p:pic>
      <p:sp>
        <p:nvSpPr>
          <p:cNvPr id="21" name="页脚占位符 136"/>
          <p:cNvSpPr txBox="1"/>
          <p:nvPr userDrawn="1"/>
        </p:nvSpPr>
        <p:spPr>
          <a:xfrm>
            <a:off x="3287688" y="284390"/>
            <a:ext cx="5616624" cy="36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dist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kern="1200" dirty="0">
                <a:solidFill>
                  <a:srgbClr val="005BAC"/>
                </a:solidFill>
                <a:latin typeface="Century Gothic" panose="020B0502020202020204"/>
                <a:ea typeface="微软雅黑" panose="020B0503020204020204" charset="-122"/>
                <a:cs typeface="+mn-cs"/>
              </a:rPr>
              <a:t>明德厚学 求是创新</a:t>
            </a:r>
            <a:endParaRPr lang="zh-CN" altLang="en-US" sz="1400" kern="1200" dirty="0">
              <a:solidFill>
                <a:srgbClr val="005BAC"/>
              </a:solidFill>
              <a:latin typeface="Century Gothic" panose="020B0502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5" name="文本占位符 78"/>
          <p:cNvSpPr/>
          <p:nvPr>
            <p:ph type="body" sz="quarter" idx="13" hasCustomPrompt="1"/>
          </p:nvPr>
        </p:nvSpPr>
        <p:spPr>
          <a:xfrm>
            <a:off x="2351451" y="2944162"/>
            <a:ext cx="7488832" cy="440681"/>
          </a:xfrm>
        </p:spPr>
        <p:txBody>
          <a:bodyPr anchor="ctr"/>
          <a:lstStyle>
            <a:lvl1pPr algn="ctr">
              <a:defRPr sz="2400" b="1" i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pPr lvl="0"/>
            <a:r>
              <a:rPr kumimoji="1" lang="zh-CN" altLang="en-US" dirty="0"/>
              <a:t>编辑副标题</a:t>
            </a:r>
            <a:endParaRPr kumimoji="1" lang="zh-CN" altLang="en-US" dirty="0"/>
          </a:p>
        </p:txBody>
      </p:sp>
      <p:sp>
        <p:nvSpPr>
          <p:cNvPr id="26" name="文本占位符 78"/>
          <p:cNvSpPr/>
          <p:nvPr>
            <p:ph type="body" sz="quarter" idx="14" hasCustomPrompt="1"/>
          </p:nvPr>
        </p:nvSpPr>
        <p:spPr>
          <a:xfrm>
            <a:off x="3431248" y="3732590"/>
            <a:ext cx="5329238" cy="440681"/>
          </a:xfrm>
        </p:spPr>
        <p:txBody>
          <a:bodyPr anchor="ctr"/>
          <a:lstStyle>
            <a:lvl1pPr algn="ctr">
              <a:defRPr sz="2400" b="1" i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pPr lvl="0"/>
            <a:r>
              <a:rPr kumimoji="1" lang="en-US" altLang="zh-CN" dirty="0"/>
              <a:t>xxx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/>
          <p:cNvCxnSpPr/>
          <p:nvPr/>
        </p:nvCxnSpPr>
        <p:spPr>
          <a:xfrm>
            <a:off x="-1145117" y="6303964"/>
            <a:ext cx="960967" cy="1587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472017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11703051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-1145117" y="1258889"/>
            <a:ext cx="960967" cy="1587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-1145117" y="763589"/>
            <a:ext cx="960967" cy="1587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5856817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6335184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6"/>
          <p:cNvSpPr txBox="1"/>
          <p:nvPr/>
        </p:nvSpPr>
        <p:spPr bwMode="auto">
          <a:xfrm>
            <a:off x="-2423583" y="6581776"/>
            <a:ext cx="223943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Aft>
                <a:spcPts val="300"/>
              </a:spcAft>
            </a:pPr>
            <a:r>
              <a:rPr lang="en-US" sz="900" dirty="0">
                <a:solidFill>
                  <a:srgbClr val="FFFFFF"/>
                </a:solidFill>
              </a:rPr>
              <a:t>White markers indicate position of  Drawing Guides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14" name="TextBox 17"/>
          <p:cNvSpPr txBox="1"/>
          <p:nvPr/>
        </p:nvSpPr>
        <p:spPr bwMode="auto">
          <a:xfrm>
            <a:off x="-1255183" y="896938"/>
            <a:ext cx="107103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</a:rPr>
              <a:t>7.40 cm</a:t>
            </a:r>
            <a:endParaRPr lang="en-US" sz="700">
              <a:solidFill>
                <a:srgbClr val="FFFFFF"/>
              </a:solidFill>
            </a:endParaRPr>
          </a:p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</a:rPr>
              <a:t>2.91 Inches</a:t>
            </a:r>
            <a:endParaRPr lang="en-US" sz="700">
              <a:solidFill>
                <a:srgbClr val="FFFFFF"/>
              </a:solidFill>
            </a:endParaRPr>
          </a:p>
        </p:txBody>
      </p:sp>
      <p:sp>
        <p:nvSpPr>
          <p:cNvPr id="15" name="TextBox 18"/>
          <p:cNvSpPr txBox="1"/>
          <p:nvPr/>
        </p:nvSpPr>
        <p:spPr bwMode="auto">
          <a:xfrm>
            <a:off x="-1255183" y="1504950"/>
            <a:ext cx="107103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</a:rPr>
              <a:t>6.00 cm</a:t>
            </a:r>
            <a:endParaRPr lang="en-US" sz="700">
              <a:solidFill>
                <a:srgbClr val="FFFFFF"/>
              </a:solidFill>
            </a:endParaRPr>
          </a:p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</a:rPr>
              <a:t>2.36 Inches</a:t>
            </a:r>
            <a:endParaRPr lang="en-US" sz="700">
              <a:solidFill>
                <a:srgbClr val="FFFFFF"/>
              </a:solidFill>
            </a:endParaRPr>
          </a:p>
        </p:txBody>
      </p:sp>
      <p:sp>
        <p:nvSpPr>
          <p:cNvPr id="16" name="TextBox 19"/>
          <p:cNvSpPr txBox="1"/>
          <p:nvPr/>
        </p:nvSpPr>
        <p:spPr bwMode="auto">
          <a:xfrm>
            <a:off x="-1255183" y="5921375"/>
            <a:ext cx="107103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</a:rPr>
              <a:t>8.00 cm</a:t>
            </a:r>
            <a:endParaRPr lang="en-US" sz="700">
              <a:solidFill>
                <a:srgbClr val="FFFFFF"/>
              </a:solidFill>
            </a:endParaRPr>
          </a:p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</a:rPr>
              <a:t>3.15 Inches</a:t>
            </a:r>
            <a:endParaRPr lang="en-US" sz="700">
              <a:solidFill>
                <a:srgbClr val="FFFFFF"/>
              </a:solidFill>
            </a:endParaRPr>
          </a:p>
        </p:txBody>
      </p:sp>
      <p:sp>
        <p:nvSpPr>
          <p:cNvPr id="17" name="TextBox 20"/>
          <p:cNvSpPr txBox="1"/>
          <p:nvPr/>
        </p:nvSpPr>
        <p:spPr bwMode="auto">
          <a:xfrm>
            <a:off x="478368" y="7067550"/>
            <a:ext cx="107103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  <a:sym typeface="Wingdings" panose="05000000000000000000" pitchFamily="2" charset="2"/>
              </a:rPr>
              <a:t></a:t>
            </a:r>
            <a:r>
              <a:rPr lang="en-US" sz="700">
                <a:solidFill>
                  <a:srgbClr val="FFFFFF"/>
                </a:solidFill>
              </a:rPr>
              <a:t>11.70 cm</a:t>
            </a:r>
            <a:endParaRPr lang="en-US" sz="700">
              <a:solidFill>
                <a:srgbClr val="FFFFFF"/>
              </a:solidFill>
            </a:endParaRPr>
          </a:p>
          <a:p>
            <a:pPr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  <a:sym typeface="Wingdings" panose="05000000000000000000" pitchFamily="2" charset="2"/>
              </a:rPr>
              <a:t> 4.61 inches</a:t>
            </a:r>
            <a:endParaRPr lang="en-US" sz="700">
              <a:solidFill>
                <a:srgbClr val="FFFFFF"/>
              </a:solidFill>
            </a:endParaRPr>
          </a:p>
        </p:txBody>
      </p:sp>
      <p:sp>
        <p:nvSpPr>
          <p:cNvPr id="18" name="TextBox 21"/>
          <p:cNvSpPr txBox="1"/>
          <p:nvPr/>
        </p:nvSpPr>
        <p:spPr bwMode="auto">
          <a:xfrm>
            <a:off x="4770968" y="7067550"/>
            <a:ext cx="107103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</a:rPr>
              <a:t>0.50 cm </a:t>
            </a:r>
            <a:r>
              <a:rPr lang="en-US" sz="700">
                <a:solidFill>
                  <a:srgbClr val="FFFFFF"/>
                </a:solidFill>
                <a:sym typeface="Wingdings" panose="05000000000000000000" pitchFamily="2" charset="2"/>
              </a:rPr>
              <a:t></a:t>
            </a:r>
            <a:endParaRPr lang="en-US" sz="700">
              <a:solidFill>
                <a:srgbClr val="FFFFFF"/>
              </a:solidFill>
              <a:sym typeface="Wingdings" panose="05000000000000000000" pitchFamily="2" charset="2"/>
            </a:endParaRPr>
          </a:p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  <a:sym typeface="Wingdings" panose="05000000000000000000" pitchFamily="2" charset="2"/>
              </a:rPr>
              <a:t>0.2 inches </a:t>
            </a:r>
            <a:endParaRPr lang="en-US" sz="700">
              <a:solidFill>
                <a:srgbClr val="FFFFFF"/>
              </a:solidFill>
            </a:endParaRPr>
          </a:p>
        </p:txBody>
      </p:sp>
      <p:sp>
        <p:nvSpPr>
          <p:cNvPr id="19" name="TextBox 22"/>
          <p:cNvSpPr txBox="1"/>
          <p:nvPr/>
        </p:nvSpPr>
        <p:spPr bwMode="auto">
          <a:xfrm>
            <a:off x="6350001" y="7067550"/>
            <a:ext cx="107103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Aft>
                <a:spcPts val="300"/>
              </a:spcAft>
              <a:buFont typeface="Wingdings" panose="05000000000000000000" pitchFamily="2" charset="2"/>
              <a:buChar char="ß"/>
            </a:pPr>
            <a:r>
              <a:rPr lang="en-US" sz="700">
                <a:solidFill>
                  <a:srgbClr val="FFFFFF"/>
                </a:solidFill>
              </a:rPr>
              <a:t>0.50 cm</a:t>
            </a:r>
            <a:endParaRPr lang="en-US" sz="700">
              <a:solidFill>
                <a:srgbClr val="FFFFFF"/>
              </a:solidFill>
            </a:endParaRPr>
          </a:p>
          <a:p>
            <a:pPr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  <a:sym typeface="Wingdings" panose="05000000000000000000" pitchFamily="2" charset="2"/>
              </a:rPr>
              <a:t> 0.2 inches</a:t>
            </a:r>
            <a:endParaRPr lang="en-US" sz="700">
              <a:solidFill>
                <a:srgbClr val="FFFFFF"/>
              </a:solidFill>
            </a:endParaRPr>
          </a:p>
        </p:txBody>
      </p:sp>
      <p:sp>
        <p:nvSpPr>
          <p:cNvPr id="20" name="TextBox 23"/>
          <p:cNvSpPr txBox="1"/>
          <p:nvPr/>
        </p:nvSpPr>
        <p:spPr bwMode="auto">
          <a:xfrm>
            <a:off x="10627785" y="7067550"/>
            <a:ext cx="107103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</a:rPr>
              <a:t>11.70 cm </a:t>
            </a:r>
            <a:r>
              <a:rPr lang="en-US" sz="700">
                <a:solidFill>
                  <a:srgbClr val="FFFFFF"/>
                </a:solidFill>
                <a:sym typeface="Wingdings" panose="05000000000000000000" pitchFamily="2" charset="2"/>
              </a:rPr>
              <a:t></a:t>
            </a:r>
            <a:endParaRPr lang="en-US" sz="700">
              <a:solidFill>
                <a:srgbClr val="FFFFFF"/>
              </a:solidFill>
            </a:endParaRPr>
          </a:p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  <a:sym typeface="Wingdings" panose="05000000000000000000" pitchFamily="2" charset="2"/>
              </a:rPr>
              <a:t> 4.61 inches </a:t>
            </a:r>
            <a:endParaRPr lang="en-US" sz="700">
              <a:solidFill>
                <a:srgbClr val="FFFFFF"/>
              </a:solidFill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 rot="5400000" flipH="1" flipV="1">
            <a:off x="-296863" y="1308630"/>
            <a:ext cx="92075" cy="2117"/>
          </a:xfrm>
          <a:prstGeom prst="straightConnector1">
            <a:avLst/>
          </a:prstGeom>
          <a:ln w="3175">
            <a:solidFill>
              <a:schemeClr val="bg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rot="5400000" flipH="1" flipV="1">
            <a:off x="-296863" y="811743"/>
            <a:ext cx="92075" cy="2117"/>
          </a:xfrm>
          <a:prstGeom prst="straightConnector1">
            <a:avLst/>
          </a:prstGeom>
          <a:ln w="3175">
            <a:solidFill>
              <a:schemeClr val="bg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rot="5400000" flipH="1" flipV="1">
            <a:off x="-296863" y="6240993"/>
            <a:ext cx="92075" cy="2117"/>
          </a:xfrm>
          <a:prstGeom prst="straightConnector1">
            <a:avLst/>
          </a:prstGeom>
          <a:ln w="3175">
            <a:solidFill>
              <a:schemeClr val="bg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utoShape 4"/>
          <p:cNvSpPr/>
          <p:nvPr/>
        </p:nvSpPr>
        <p:spPr bwMode="gray">
          <a:xfrm>
            <a:off x="-2055284" y="0"/>
            <a:ext cx="1871133" cy="584775"/>
          </a:xfrm>
          <a:prstGeom prst="rect">
            <a:avLst/>
          </a:prstGeom>
          <a:noFill/>
          <a:ln w="12700" algn="ctr">
            <a:noFill/>
            <a:miter lim="800000"/>
          </a:ln>
          <a:effectLst/>
        </p:spPr>
        <p:txBody>
          <a:bodyPr lIns="0" tIns="0" rIns="0" bIns="0">
            <a:spAutoFit/>
          </a:bodyPr>
          <a:lstStyle/>
          <a:p>
            <a:pPr>
              <a:defRPr/>
            </a:pPr>
            <a:r>
              <a:rPr lang="en-US" sz="700" b="1" dirty="0">
                <a:solidFill>
                  <a:srgbClr val="FFFFFF"/>
                </a:solidFill>
              </a:rPr>
              <a:t>To view  drawing guides:</a:t>
            </a:r>
            <a:endParaRPr lang="en-US" sz="700" b="1" dirty="0">
              <a:solidFill>
                <a:srgbClr val="FFFFFF"/>
              </a:solidFill>
            </a:endParaRPr>
          </a:p>
          <a:p>
            <a:pPr>
              <a:defRPr/>
            </a:pPr>
            <a:endParaRPr lang="en-US" sz="300" b="1" dirty="0">
              <a:solidFill>
                <a:srgbClr val="FFFFFF"/>
              </a:solidFill>
            </a:endParaRPr>
          </a:p>
          <a:p>
            <a:pPr marL="180975" indent="-180975">
              <a:buFont typeface="+mj-lt"/>
              <a:buAutoNum type="arabicPeriod"/>
              <a:defRPr/>
            </a:pPr>
            <a:r>
              <a:rPr lang="en-US" sz="700" dirty="0">
                <a:solidFill>
                  <a:srgbClr val="FFFFFF"/>
                </a:solidFill>
              </a:rPr>
              <a:t>Right-click on slide and select ’Grid and Guides...’</a:t>
            </a:r>
            <a:endParaRPr lang="en-US" sz="700" dirty="0">
              <a:solidFill>
                <a:srgbClr val="FFFFFF"/>
              </a:solidFill>
            </a:endParaRPr>
          </a:p>
          <a:p>
            <a:pPr marL="180975" indent="-180975">
              <a:buFont typeface="+mj-lt"/>
              <a:buAutoNum type="arabicPeriod"/>
              <a:defRPr/>
            </a:pPr>
            <a:r>
              <a:rPr lang="en-US" sz="700" dirty="0">
                <a:solidFill>
                  <a:srgbClr val="FFFFFF"/>
                </a:solidFill>
              </a:rPr>
              <a:t>Check ’Display drawing guides on screen’</a:t>
            </a:r>
            <a:endParaRPr lang="en-US" sz="700" dirty="0">
              <a:solidFill>
                <a:srgbClr val="FFFFFF"/>
              </a:solidFill>
            </a:endParaRPr>
          </a:p>
          <a:p>
            <a:pPr marL="180975" indent="-180975">
              <a:buFont typeface="+mj-lt"/>
              <a:buAutoNum type="arabicPeriod"/>
              <a:defRPr/>
            </a:pPr>
            <a:r>
              <a:rPr lang="en-US" sz="700" dirty="0">
                <a:solidFill>
                  <a:srgbClr val="FFFFFF"/>
                </a:solidFill>
              </a:rPr>
              <a:t>Select ’OK’</a:t>
            </a:r>
            <a:endParaRPr lang="en-US" sz="700" dirty="0">
              <a:solidFill>
                <a:srgbClr val="FFFFFF"/>
              </a:solidFill>
            </a:endParaRPr>
          </a:p>
        </p:txBody>
      </p:sp>
      <p:sp>
        <p:nvSpPr>
          <p:cNvPr id="2" name="Title 1"/>
          <p:cNvSpPr/>
          <p:nvPr>
            <p:ph type="title"/>
          </p:nvPr>
        </p:nvSpPr>
        <p:spPr>
          <a:xfrm>
            <a:off x="478368" y="395289"/>
            <a:ext cx="11231033" cy="492443"/>
          </a:xfrm>
        </p:spPr>
        <p:txBody>
          <a:bodyPr lIns="108000"/>
          <a:lstStyle/>
          <a:p>
            <a:r>
              <a:rPr lang="zh-CN" altLang="en-US" noProof="0" dirty="0"/>
              <a:t>单击此处编辑母版标题样式</a:t>
            </a:r>
            <a:endParaRPr lang="en-US" noProof="0" dirty="0"/>
          </a:p>
        </p:txBody>
      </p:sp>
      <p:sp>
        <p:nvSpPr>
          <p:cNvPr id="4" name="内容占位符 3"/>
          <p:cNvSpPr/>
          <p:nvPr>
            <p:ph sz="quarter" idx="17"/>
          </p:nvPr>
        </p:nvSpPr>
        <p:spPr>
          <a:xfrm>
            <a:off x="477838" y="1052513"/>
            <a:ext cx="11231562" cy="5235575"/>
          </a:xfr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2000" b="0" i="0" dirty="0" smtClean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1pPr>
            <a:lvl2pPr marL="179705" marR="0" indent="-179705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n"/>
              <a:defRPr lang="zh-CN" altLang="en-US" sz="1800" b="0" i="0" dirty="0" smtClean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2pPr>
            <a:lvl3pPr marL="358775" marR="0" indent="-179705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n"/>
              <a:defRPr lang="zh-CN" altLang="en-US" b="0" i="0" dirty="0" smtClean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3pPr>
            <a:lvl4pPr marL="539750" marR="0" indent="-179705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n"/>
              <a:defRPr lang="zh-CN" altLang="en-US" sz="1400" b="0" i="0" dirty="0" smtClean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4pPr>
            <a:lvl5pPr marL="2114550" indent="-285750">
              <a:buClr>
                <a:schemeClr val="tx2"/>
              </a:buClr>
              <a:buFont typeface="Wingdings" panose="05000000000000000000" pitchFamily="2" charset="2"/>
              <a:buChar char="n"/>
              <a:defRPr lang="zh-CN" altLang="en-US" sz="1400" b="0" i="0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77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j-cs"/>
              </a:rPr>
              <a:t>单击此处编辑母版文本样式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2776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j-cs"/>
            </a:endParaRPr>
          </a:p>
          <a:p>
            <a:pPr marL="179705" marR="0" lvl="1" indent="-179705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77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j-cs"/>
              </a:rPr>
              <a:t>第二级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2776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j-cs"/>
            </a:endParaRPr>
          </a:p>
          <a:p>
            <a:pPr marL="358775" marR="0" lvl="2" indent="-179705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77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j-cs"/>
              </a:rPr>
              <a:t>第三级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2776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j-cs"/>
            </a:endParaRPr>
          </a:p>
          <a:p>
            <a:pPr marL="539750" marR="0" lvl="3" indent="-179705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77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j-cs"/>
              </a:rPr>
              <a:t>第四级</a:t>
            </a:r>
            <a:endParaRPr kumimoji="1" lang="zh-CN" altLang="en-US" dirty="0"/>
          </a:p>
        </p:txBody>
      </p:sp>
      <p:grpSp>
        <p:nvGrpSpPr>
          <p:cNvPr id="25" name="组合 24"/>
          <p:cNvGrpSpPr>
            <a:grpSpLocks noChangeAspect="1"/>
          </p:cNvGrpSpPr>
          <p:nvPr userDrawn="1"/>
        </p:nvGrpSpPr>
        <p:grpSpPr>
          <a:xfrm>
            <a:off x="10889097" y="451528"/>
            <a:ext cx="971869" cy="537470"/>
            <a:chOff x="10728252" y="116959"/>
            <a:chExt cx="1293558" cy="715373"/>
          </a:xfrm>
          <a:solidFill>
            <a:srgbClr val="005BAD"/>
          </a:solidFill>
        </p:grpSpPr>
        <p:sp>
          <p:nvSpPr>
            <p:cNvPr id="27" name="ïSļíḋe"/>
            <p:cNvSpPr/>
            <p:nvPr userDrawn="1"/>
          </p:nvSpPr>
          <p:spPr bwMode="auto">
            <a:xfrm>
              <a:off x="10844646" y="498022"/>
              <a:ext cx="156074" cy="25047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 w="9525">
              <a:solidFill>
                <a:srgbClr val="005BAD">
                  <a:alpha val="60268"/>
                </a:srgbClr>
              </a:solidFill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28" name="îSḷîḓé"/>
            <p:cNvSpPr/>
            <p:nvPr userDrawn="1"/>
          </p:nvSpPr>
          <p:spPr bwMode="auto">
            <a:xfrm>
              <a:off x="10963687" y="498022"/>
              <a:ext cx="166655" cy="25047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 w="9525">
              <a:solidFill>
                <a:srgbClr val="005BAD">
                  <a:alpha val="60268"/>
                </a:srgbClr>
              </a:solidFill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29" name="işļïḑê"/>
            <p:cNvSpPr/>
            <p:nvPr userDrawn="1"/>
          </p:nvSpPr>
          <p:spPr bwMode="auto">
            <a:xfrm>
              <a:off x="10937233" y="650019"/>
              <a:ext cx="66134" cy="32113"/>
            </a:xfrm>
            <a:prstGeom prst="rect">
              <a:avLst/>
            </a:prstGeom>
            <a:grpFill/>
            <a:ln w="9525">
              <a:solidFill>
                <a:srgbClr val="005BAD">
                  <a:alpha val="60268"/>
                </a:srgbClr>
              </a:solidFill>
              <a:miter lim="800000"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30" name="iṣḷiḑè"/>
            <p:cNvSpPr/>
            <p:nvPr userDrawn="1"/>
          </p:nvSpPr>
          <p:spPr bwMode="auto">
            <a:xfrm>
              <a:off x="11088015" y="498022"/>
              <a:ext cx="158719" cy="25047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 w="9525">
              <a:solidFill>
                <a:srgbClr val="005BAD">
                  <a:alpha val="60268"/>
                </a:srgbClr>
              </a:solidFill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31" name="ïṣľídè"/>
            <p:cNvSpPr/>
            <p:nvPr userDrawn="1"/>
          </p:nvSpPr>
          <p:spPr bwMode="auto">
            <a:xfrm>
              <a:off x="11207055" y="498022"/>
              <a:ext cx="156074" cy="25047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 w="9525">
              <a:solidFill>
                <a:srgbClr val="005BAD">
                  <a:alpha val="60268"/>
                </a:srgbClr>
              </a:solidFill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32" name="íSļîḓé"/>
            <p:cNvSpPr/>
            <p:nvPr userDrawn="1"/>
          </p:nvSpPr>
          <p:spPr bwMode="auto">
            <a:xfrm>
              <a:off x="11170020" y="714243"/>
              <a:ext cx="66134" cy="34253"/>
            </a:xfrm>
            <a:prstGeom prst="rect">
              <a:avLst/>
            </a:prstGeom>
            <a:grpFill/>
            <a:ln w="9525">
              <a:solidFill>
                <a:srgbClr val="005BAD">
                  <a:alpha val="60268"/>
                </a:srgbClr>
              </a:solidFill>
              <a:miter lim="800000"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33" name="iṩ1ídè"/>
            <p:cNvSpPr/>
            <p:nvPr userDrawn="1"/>
          </p:nvSpPr>
          <p:spPr bwMode="auto">
            <a:xfrm>
              <a:off x="10728252" y="116959"/>
              <a:ext cx="1293558" cy="700044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 w="9525">
              <a:solidFill>
                <a:srgbClr val="005BAD">
                  <a:alpha val="60268"/>
                </a:srgbClr>
              </a:solidFill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</a:endParaRPr>
            </a:p>
          </p:txBody>
        </p:sp>
        <p:sp>
          <p:nvSpPr>
            <p:cNvPr id="34" name="ïşľíḑé"/>
            <p:cNvSpPr/>
            <p:nvPr userDrawn="1"/>
          </p:nvSpPr>
          <p:spPr bwMode="auto">
            <a:xfrm>
              <a:off x="11561527" y="472332"/>
              <a:ext cx="185172" cy="360000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9525">
              <a:solidFill>
                <a:srgbClr val="005BAD">
                  <a:alpha val="60268"/>
                </a:srgbClr>
              </a:solidFill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</a:endParaRPr>
            </a:p>
          </p:txBody>
        </p:sp>
      </p:grpSp>
      <p:cxnSp>
        <p:nvCxnSpPr>
          <p:cNvPr id="35" name="直接连接符 23"/>
          <p:cNvCxnSpPr>
            <a:endCxn id="33" idx="0"/>
          </p:cNvCxnSpPr>
          <p:nvPr userDrawn="1"/>
        </p:nvCxnSpPr>
        <p:spPr>
          <a:xfrm>
            <a:off x="0" y="966439"/>
            <a:ext cx="10889097" cy="11042"/>
          </a:xfrm>
          <a:prstGeom prst="line">
            <a:avLst/>
          </a:prstGeom>
          <a:noFill/>
          <a:ln w="6350" cap="flat" cmpd="sng" algn="ctr">
            <a:solidFill>
              <a:srgbClr val="005BAD"/>
            </a:solidFill>
            <a:prstDash val="solid"/>
            <a:miter lim="800000"/>
          </a:ln>
          <a:effectLst/>
        </p:spPr>
      </p:cxnSp>
      <p:sp>
        <p:nvSpPr>
          <p:cNvPr id="42" name="矩形 41"/>
          <p:cNvSpPr/>
          <p:nvPr userDrawn="1"/>
        </p:nvSpPr>
        <p:spPr>
          <a:xfrm>
            <a:off x="383647" y="508498"/>
            <a:ext cx="144000" cy="144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5BA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3" name="矩形 42"/>
          <p:cNvSpPr/>
          <p:nvPr userDrawn="1"/>
        </p:nvSpPr>
        <p:spPr>
          <a:xfrm>
            <a:off x="191344" y="305562"/>
            <a:ext cx="288000" cy="288000"/>
          </a:xfrm>
          <a:prstGeom prst="rect">
            <a:avLst/>
          </a:prstGeom>
          <a:solidFill>
            <a:srgbClr val="005BAC"/>
          </a:solidFill>
          <a:ln w="12700" cap="flat" cmpd="sng" algn="ctr">
            <a:solidFill>
              <a:srgbClr val="005BA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4" name="日期占位符 135"/>
          <p:cNvSpPr txBox="1"/>
          <p:nvPr userDrawn="1"/>
        </p:nvSpPr>
        <p:spPr>
          <a:xfrm>
            <a:off x="8817580" y="6500767"/>
            <a:ext cx="2883976" cy="267573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dirty="0">
                <a:solidFill>
                  <a:srgbClr val="768395"/>
                </a:solidFill>
                <a:latin typeface="Century Gothic" panose="020B0502020202020204"/>
                <a:ea typeface="微软雅黑" panose="020B0503020204020204" charset="-122"/>
              </a:rPr>
              <a:t>华中科技大学电子信息与通信学院</a:t>
            </a:r>
            <a:endParaRPr lang="zh-CN" altLang="en-US" dirty="0">
              <a:solidFill>
                <a:srgbClr val="768395"/>
              </a:solidFill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45" name="页脚占位符 136"/>
          <p:cNvSpPr txBox="1"/>
          <p:nvPr userDrawn="1"/>
        </p:nvSpPr>
        <p:spPr>
          <a:xfrm>
            <a:off x="494122" y="6497233"/>
            <a:ext cx="2880000" cy="2736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dist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768395"/>
                </a:solidFill>
                <a:latin typeface="Century Gothic" panose="020B0502020202020204"/>
                <a:ea typeface="微软雅黑" panose="020B0503020204020204" charset="-122"/>
              </a:rPr>
              <a:t>明德厚学 求是创新</a:t>
            </a:r>
            <a:endParaRPr lang="zh-CN" altLang="en-US" dirty="0">
              <a:solidFill>
                <a:srgbClr val="768395"/>
              </a:solidFill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48" name="Slide Number Placeholder 5"/>
          <p:cNvSpPr txBox="1"/>
          <p:nvPr userDrawn="1"/>
        </p:nvSpPr>
        <p:spPr>
          <a:xfrm>
            <a:off x="6063642" y="6568610"/>
            <a:ext cx="480484" cy="12541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sz="1000" b="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DA0BB7-265A-403C-9275-D587AB510EDC}" type="slidenum">
              <a:rPr lang="zh-TW" altLang="en-US" smtClean="0">
                <a:solidFill>
                  <a:schemeClr val="tx1">
                    <a:lumMod val="50000"/>
                    <a:lumOff val="50000"/>
                  </a:schemeClr>
                </a:solidFill>
              </a:rPr>
            </a:fld>
            <a:endParaRPr lang="zh-TW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2211705" y="2629535"/>
            <a:ext cx="7767955" cy="664210"/>
          </a:xfrm>
        </p:spPr>
        <p:txBody>
          <a:bodyPr wrap="square">
            <a:normAutofit fontScale="90000"/>
          </a:bodyPr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en-US" altLang="zh-CN" sz="3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AI</a:t>
            </a:r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与通信融合研究进展调研四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48593" name="文本占位符 6"/>
          <p:cNvSpPr/>
          <p:nvPr>
            <p:ph type="body" sz="quarter" idx="14"/>
          </p:nvPr>
        </p:nvSpPr>
        <p:spPr>
          <a:xfrm>
            <a:off x="4448810" y="4185285"/>
            <a:ext cx="3295015" cy="44069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汇报人：朱甜甜</a:t>
            </a:r>
            <a:endParaRPr lang="zh-CN" altLang="en-US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048594" name="文本占位符 2"/>
          <p:cNvSpPr/>
          <p:nvPr/>
        </p:nvSpPr>
        <p:spPr>
          <a:xfrm>
            <a:off x="4618698" y="4855743"/>
            <a:ext cx="3024188" cy="35894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ctr" anchorCtr="0" compatLnSpc="1"/>
          <a:lstStyle>
            <a:lvl1pPr algn="ctr" rtl="0" eaLnBrk="1" fontAlgn="base" hangingPunct="1">
              <a:spcBef>
                <a:spcPts val="15"/>
              </a:spcBef>
              <a:spcAft>
                <a:spcPct val="0"/>
              </a:spcAft>
              <a:buFont typeface="Arial" panose="020B0604020202020204" pitchFamily="34" charset="0"/>
              <a:defRPr lang="en-US" sz="1800" b="1" i="0" kern="12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  <a:cs typeface="+mj-cs"/>
              </a:defRPr>
            </a:lvl1pPr>
            <a:lvl2pPr marL="179705" indent="-179705" algn="l" rtl="0" eaLnBrk="1" fontAlgn="base" hangingPunct="1">
              <a:spcBef>
                <a:spcPts val="4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n"/>
              <a:defRPr lang="en-US" b="0" i="0" kern="12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  <a:cs typeface="+mj-cs"/>
              </a:defRPr>
            </a:lvl2pPr>
            <a:lvl3pPr marL="358775" indent="-179705" algn="l" rtl="0" eaLnBrk="1" fontAlgn="base" hangingPunct="1">
              <a:spcBef>
                <a:spcPts val="4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n"/>
              <a:defRPr lang="en-US" sz="1600" b="0" i="0" kern="12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  <a:cs typeface="+mj-cs"/>
              </a:defRPr>
            </a:lvl3pPr>
            <a:lvl4pPr marL="539750" indent="-179705" algn="l" rtl="0" eaLnBrk="1" fontAlgn="base" hangingPunct="1">
              <a:spcBef>
                <a:spcPts val="4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n"/>
              <a:defRPr lang="en-US" sz="1600" b="0" i="0" kern="12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  <a:cs typeface="+mj-cs"/>
              </a:defRPr>
            </a:lvl4pPr>
            <a:lvl5pPr marL="719455" indent="-179705" algn="l" rtl="0" eaLnBrk="1" fontAlgn="base" hangingPunct="1">
              <a:spcBef>
                <a:spcPts val="400"/>
              </a:spcBef>
              <a:spcAft>
                <a:spcPct val="0"/>
              </a:spcAft>
              <a:buFont typeface="Arial" panose="020B0604020202020204" pitchFamily="34" charset="0"/>
              <a:buChar char="‒"/>
              <a:defRPr lang="en-GB" sz="1600" b="0" i="0" kern="12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  <a:cs typeface="+mj-cs"/>
              </a:defRPr>
            </a:lvl5pPr>
            <a:lvl6pPr marL="899795" indent="-179705" algn="l" defTabSz="914400" rtl="0" eaLnBrk="1" latinLnBrk="0" hangingPunct="1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79500" indent="-179705" algn="l" defTabSz="914400" rtl="0" eaLnBrk="1" latinLnBrk="0" hangingPunct="1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‒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59840" indent="-179705" algn="l" defTabSz="914400" rtl="0" eaLnBrk="1" latinLnBrk="0" hangingPunct="1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440180" indent="-179705" algn="l" defTabSz="914400" rtl="0" eaLnBrk="1" latinLnBrk="0" hangingPunct="1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‒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2026.</a:t>
            </a:r>
            <a:r>
              <a:rPr lang="en-US" altLang="zh-CN" sz="2000">
                <a:solidFill>
                  <a:schemeClr val="bg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</a:t>
            </a:r>
            <a:r>
              <a:rPr altLang="zh-CN" sz="2000">
                <a:solidFill>
                  <a:schemeClr val="bg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0.16</a:t>
            </a:r>
            <a:endParaRPr lang="en-US" altLang="zh-CN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标题 1"/>
          <p:cNvSpPr/>
          <p:nvPr>
            <p:ph type="title"/>
          </p:nvPr>
        </p:nvSpPr>
        <p:spPr>
          <a:xfrm>
            <a:off x="565150" y="339090"/>
            <a:ext cx="10309225" cy="612775"/>
          </a:xfrm>
        </p:spPr>
        <p:txBody>
          <a:bodyPr>
            <a:noAutofit/>
          </a:bodyPr>
          <a:lstStyle/>
          <a:p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研究方向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文本框 5"/>
          <p:cNvSpPr txBox="1"/>
          <p:nvPr/>
        </p:nvSpPr>
        <p:spPr>
          <a:xfrm>
            <a:off x="228869" y="1072572"/>
            <a:ext cx="11734165" cy="5382941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本次调研围绕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通信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AI 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功能测试验收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和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Radio Map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两个方向展开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方向一：通信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AI 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功能测试验收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研究背景：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终端通信功能引入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AI 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后，模型可能因输入配置变化、使用环境变化或版本更新而出现性能退化，需要建立相应的验证与持续监测方法。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调研重点：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配置变化时怎样验证：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利用具有已知关系的测试配置，检查模型输出是否合理。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部署后怎样监测：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明确终端模型能力及监测条件，支持异常发现与模型管理。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模型更新后怎样验收：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评价更新对整个模型组合的功能表现和资源开销的影响。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研究目标：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明确通信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AI 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的测试输入、判定依据和异常处理流程，为终端功能验收提供方法参考。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endParaRPr lang="zh-CN" altLang="en-US" sz="9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方向二：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Radio Map 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辅助覆盖分析与补测选点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研究背景：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外场测量集中在已走过的路线，未测区域的覆盖情况不明确，需要利用已有数据扩展覆盖认知，为后续寻找弱覆盖位置提供依据。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调研重点：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众包测量识别薄弱区域：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按照小区和信号等级学习覆盖边界，结合弱信号与失去服务记录筛选待复测区域。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轨迹测量补全未测覆盖：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利用沿行走路线采集的稀疏测量，估计周边未测位置的信号分布。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仿真辅助建图与测量选点：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结合环境仿真和少量实测修正覆盖地图，通过代表性或高不确定性选点提高采样效率。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研究目标：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将零散测量转化为覆盖地图，辅助筛选疑似薄弱区域和待补测位置，为场测路线设计提供依据。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40000"/>
              </a:lnSpc>
              <a:buNone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本次关注：方向一研究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模型怎样验证和管理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，方向二研究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测量如何形成覆盖认知，并指导后续采集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标题 1"/>
          <p:cNvSpPr/>
          <p:nvPr>
            <p:ph type="title"/>
          </p:nvPr>
        </p:nvSpPr>
        <p:spPr>
          <a:xfrm>
            <a:off x="565150" y="339090"/>
            <a:ext cx="6024343" cy="612775"/>
          </a:xfrm>
        </p:spPr>
        <p:txBody>
          <a:bodyPr>
            <a:noAutofit/>
          </a:bodyPr>
          <a:lstStyle/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方向一：通信</a:t>
            </a: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AI 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功能测试验收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文本框 5"/>
          <p:cNvSpPr txBox="1"/>
          <p:nvPr/>
        </p:nvSpPr>
        <p:spPr>
          <a:xfrm>
            <a:off x="258445" y="1057729"/>
            <a:ext cx="7819481" cy="5418019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1. 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诺基亚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——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基于关联配置的终端通信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AI 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模型鲁棒性验证</a:t>
            </a:r>
            <a:r>
              <a:rPr lang="en-US" altLang="zh-CN" b="1" baseline="30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[1]</a:t>
            </a:r>
            <a:endParaRPr lang="zh-CN" alt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研究问题与价值：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波束预测、终端定位等通信</a:t>
            </a: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AI 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功能的精确真值，有时难以由测试设备直接确定。例如，预测</a:t>
            </a: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RSRP 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受到终端自身接收增益影响，测试设备难以仅凭发射参数给出准确答案。该专利利用配置之间的已知关系，检查模型输出变化是否合理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，为真值不足时的模型验证提供补充依据。</a:t>
            </a:r>
            <a:endParaRPr lang="zh-CN" altLang="en-US" sz="1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核心思路：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终端根据测试配置测量参考信号，将测量结果及模型所需的配置信息作为输入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，输出最好波束、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RSRP 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或位置预测。对基准配置和关联配置分别运行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同一个模型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，再将两组预测的实际变化与预期关系比较，得到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关系偏差，从而得出通过／失败结论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，用于决定后续测试和模型处理。</a:t>
            </a:r>
            <a:endParaRPr lang="zh-CN" altLang="en-US" sz="1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研究方法：</a:t>
            </a:r>
            <a:endParaRPr lang="zh-CN" altLang="en-US" sz="1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a.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建立基准，明确预测对象。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测试设备配置参考信号、测量资源和预测目标。终端完成测量与推理，保存基准预测，并记录输出对应的配置和资源，确保后续能够正确对齐。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b.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构造关联配置，规定输出关系。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通过重排扫描顺序、调整输入子集或统一改变发射功率，形成第二组输入。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不同变化采用不同判断规则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：扫描重排可检查同一目标的预测一致性，功率变化则检查预测功率的相应变化。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c.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获取关联预测，评价关系偏差。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在传播条件可比、模型版本固定的前提下，获得第二组预测，对齐资源和目标后检查是否满足预期关系。结合容差与重复测试判断，必要时增加配置进一步验证。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d.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分配比较任务，形成验证结果。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终端支持本地验证时，上报差值或通过／失败结论；否则，上报两组预测，由测试设备比较。异常后可进一步复测、停用或切换模型，也可触发重新训练。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成熟度与研究启示：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专利提供了实验室与部署后的验证流程，具体用例和容差仍需实验确定。可先固定信道与模型版本，开展成对配置测试。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6745395" y="458229"/>
            <a:ext cx="4128794" cy="493636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120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[1] NOKIA TECHNOLOGIES OY. Method, apparatus and computer program: WO2026032692A1[P]. 2026-02-12.</a:t>
            </a:r>
            <a:endParaRPr lang="en-US" altLang="zh-CN" sz="1200"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图片 3" descr="post_object_image_50252527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7926" y="1069822"/>
            <a:ext cx="3922104" cy="5139874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8853714" y="6209756"/>
            <a:ext cx="2631440" cy="27559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zh-CN" altLang="en-US" sz="1200" b="1"/>
              <a:t>基于关联配置的模型鲁棒性验证流程</a:t>
            </a:r>
            <a:endParaRPr lang="zh-CN" altLang="en-US" sz="12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标题 1"/>
          <p:cNvSpPr/>
          <p:nvPr>
            <p:ph type="title"/>
          </p:nvPr>
        </p:nvSpPr>
        <p:spPr>
          <a:xfrm>
            <a:off x="565150" y="339090"/>
            <a:ext cx="6024343" cy="612775"/>
          </a:xfrm>
        </p:spPr>
        <p:txBody>
          <a:bodyPr>
            <a:noAutofit/>
          </a:bodyPr>
          <a:lstStyle/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方向一：通信</a:t>
            </a: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AI 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功能测试验收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文本框 5"/>
          <p:cNvSpPr txBox="1"/>
          <p:nvPr/>
        </p:nvSpPr>
        <p:spPr>
          <a:xfrm>
            <a:off x="173778" y="951895"/>
            <a:ext cx="8080254" cy="5523853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2. 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苹果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——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通信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AI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模型部署后的监测与切换</a:t>
            </a:r>
            <a:r>
              <a:rPr lang="en-US" altLang="zh-CN" b="1" baseline="30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[</a:t>
            </a:r>
            <a:r>
              <a:rPr lang="en-US" altLang="zh-CN" b="1" baseline="30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2</a:t>
            </a:r>
            <a:r>
              <a:rPr lang="en-US" altLang="zh-CN" b="1" baseline="30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]</a:t>
            </a:r>
            <a:endParaRPr lang="zh-CN" alt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研究问题与价值：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波束预测等通信</a:t>
            </a: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AI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模型部署后，可能因小区切换、传播环境变化或模型更新而出现性能下降。仅凭部署前通过测试，无法保证模型在当前条件下仍然适用。因此，需要明确何时检查模型、检查结果如何反馈，以及表现变差后如何切换或回退。</a:t>
            </a:r>
            <a:endParaRPr lang="zh-CN" altLang="en-US" sz="1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核心思路：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为不同模型建立带有标识、版本、启用状态和验证情况的记录，由网络配置每个模型的监测条件。终端在条件满足时采集测量，形成监测评分或上报测量结果，再根据评价结果决定是否继续使用。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监测既面向当前模型，也可以覆盖尚未启用的候选模型，为后续替换提供依据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1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研究方法：</a:t>
            </a:r>
            <a:endParaRPr lang="zh-CN" altLang="en-US" sz="1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a.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记录模型信息，明确监测对象。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网络向终端提供新模型或更新模型及其唯一标识，并关联版本、启用状态和验证情况，使后续测量与评分能够对应到具体模型，区分当前使用的模型和备用候选。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b.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配置监测条件，确定检查时机。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网络针对模型规定监测触发规则，例如服务小区变化、信号强度低于门限、预测值与实测值偏差过大。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触发条件表示需要检查，并不直接等于模型失效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c.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采集监测数据，形成评价结果。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终端按配置执行测量，检查模型推理表现，并将结果关联到模型标识。终端可以计算监测评分后上报，也可以上报测量，由网络计算评分；候选模型在具备监测条件时也可接受评估。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d.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反馈监测结果，执行模型管理。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当前模型表现良好则继续使用；表现不好时，查找在相近运行条件下评分良好的候选模型并进行选择，没有合适候选则回退传统方案。网络也可以根据上报评分直接指示终端切换模型。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成熟度与研究启示：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专利给出了部署后监测与模型管理机制，未提供定量效果对比或可直接套用的统一评分规则。可围绕监测是否正确触发、评分能否反映性能退化、切换或回退后功能能否恢复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开展验证。具体评分方法、判定门限及监测开销，需要结合选定的通信功能进一步实验确定。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6733300" y="143783"/>
            <a:ext cx="4128794" cy="808112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120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[</a:t>
            </a:r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2</a:t>
            </a:r>
            <a:r>
              <a:rPr lang="en-US" altLang="zh-CN" sz="120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] APPLE INC. Artificial intelligence/machine learning (AI/ML) model capability exchange and monitoring condition signaling for post deployment: WO2026035397A1[P]. 2026-02-12.</a:t>
            </a:r>
            <a:endParaRPr lang="en-US" altLang="zh-CN" sz="1200"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9449405" y="6197660"/>
            <a:ext cx="2019300" cy="275590"/>
          </a:xfrm>
          <a:prstGeom prst="rect">
            <a:avLst/>
          </a:prstGeom>
          <a:ln w="9525" cmpd="sng">
            <a:noFill/>
            <a:prstDash val="solid"/>
            <a:miter lim="800000"/>
          </a:ln>
        </p:spPr>
        <p:txBody>
          <a:bodyPr wrap="none" rtlCol="0">
            <a:spAutoFit/>
          </a:bodyPr>
          <a:p>
            <a:pPr algn="l"/>
            <a:r>
              <a:rPr lang="zh-CN" altLang="en-US" sz="1200" b="1"/>
              <a:t>部署后模型监测与选择流程</a:t>
            </a:r>
            <a:endParaRPr lang="zh-CN" altLang="en-US" sz="1200" b="1"/>
          </a:p>
        </p:txBody>
      </p:sp>
      <p:pic>
        <p:nvPicPr>
          <p:cNvPr id="6" name="图片 5" descr="post_object_image_422792914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4063" y="1307495"/>
            <a:ext cx="367665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标题 1"/>
          <p:cNvSpPr/>
          <p:nvPr>
            <p:ph type="title"/>
          </p:nvPr>
        </p:nvSpPr>
        <p:spPr>
          <a:xfrm>
            <a:off x="565150" y="339090"/>
            <a:ext cx="6024343" cy="612775"/>
          </a:xfrm>
        </p:spPr>
        <p:txBody>
          <a:bodyPr>
            <a:noAutofit/>
          </a:bodyPr>
          <a:lstStyle/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方向一：通信</a:t>
            </a: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AI 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功能测试验收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文本框 5"/>
          <p:cNvSpPr txBox="1"/>
          <p:nvPr/>
        </p:nvSpPr>
        <p:spPr>
          <a:xfrm>
            <a:off x="173778" y="894745"/>
            <a:ext cx="8235035" cy="5523853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3. 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苹果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——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新模型加入后，验证整个模型组合</a:t>
            </a:r>
            <a:r>
              <a:rPr lang="en-US" altLang="zh-CN" b="1" baseline="30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[</a:t>
            </a:r>
            <a:r>
              <a:rPr lang="en-US" altLang="zh-CN" b="1" baseline="30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3</a:t>
            </a:r>
            <a:r>
              <a:rPr lang="en-US" altLang="zh-CN" b="1" baseline="30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]</a:t>
            </a:r>
            <a:endParaRPr lang="zh-CN" alt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研究问题与价值：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终端中的多个通信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AI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模型可能相互依赖，一个模型的输出或选择结果会影响后续模型。因此，新模型单独测试合格，加入现有组合后，仍可能导致整体功能退化或资源开销超限。本研究将验收对象扩展到模型组合，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为模型更新能否放行提供依据，降低</a:t>
            </a: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单模型合格、整机功能却变差</a:t>
            </a: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的风险。</a:t>
            </a:r>
            <a:endParaRPr lang="zh-CN" altLang="en-US" sz="1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核心思路：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围绕模型所参与的通信功能，开展加入新模型前后的组合对照测试。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先使用旧版本或传统代码建立基准，再将待测模型加入组合，重新运行代表性测试场景，比较最终功能表现及资源消耗，决定是否接受更新。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右图展示终端执行这一验收过程的主要步骤。</a:t>
            </a:r>
            <a:endParaRPr lang="zh-CN" altLang="en-US" sz="1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研究方法：</a:t>
            </a:r>
            <a:endParaRPr lang="zh-CN" altLang="en-US" sz="1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a.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梳理模型依赖，确定测试对象。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终端接收新模型后，将其标记为待测试，并识别它与现有模型之间的输入输出、选择控制等关系。记录相关模型标识和版本，确定需要检查的组合及通信功能。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b.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运行基准测试，保存功能输出。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不使用待测模型，而采用旧版本或传统代码运行对应功能。根据所选功能，以无线测量等作为输入，保存组合产生的最终推理结果，并记录功能性能、功耗和计算资源指标。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c.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运行候选组合，比较更新影响。将待测模型加入组合，获得更新后的最终推理结果及相同指标。对照测试应控制场景、输入和其他模型版本，重点判断最终功能是否改善、原有能力是否退化，以及资源开销是否满足要求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，形成组合验收结论。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d. 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反馈验收结论，衔接监测与纠正。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通过测试则接受更新并标记为已验证；未通过则拒绝，并向网络反馈原因。使用后继续监测组合表现，发现退化时开展附加测试定位相关模型，采取恢复旧版本、回退传统代码或重新训练等措施；修复后的更新仍需再次验收。</a:t>
            </a:r>
            <a:endParaRPr lang="zh-CN" altLang="en-US" sz="1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成熟度与研究启示：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处于机制设计阶段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，已提出组合测试、准入、监测和纠正流程；未提供配套代码、统一数值门限或可复现的定量验证。可据此研究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组合性能与资源约束共同决定模型更新准入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的测试方法。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7197644" y="286668"/>
            <a:ext cx="3664450" cy="665237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120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[</a:t>
            </a:r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3</a:t>
            </a:r>
            <a:r>
              <a:rPr lang="en-US" altLang="zh-CN" sz="120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] APPLE INC. Systems and methods for artificial intelligence/machine learning model group validation: WO2026072237A1[P]. 2026-04-02.</a:t>
            </a:r>
            <a:endParaRPr lang="en-US" altLang="zh-CN" sz="1200"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8934966" y="6197560"/>
            <a:ext cx="2631440" cy="275590"/>
          </a:xfrm>
          <a:prstGeom prst="rect">
            <a:avLst/>
          </a:prstGeom>
          <a:ln w="9525" cmpd="sng">
            <a:noFill/>
            <a:prstDash val="solid"/>
            <a:miter lim="800000"/>
          </a:ln>
        </p:spPr>
        <p:txBody>
          <a:bodyPr wrap="none" rtlCol="0">
            <a:spAutoFit/>
          </a:bodyPr>
          <a:p>
            <a:pPr algn="l"/>
            <a:r>
              <a:rPr lang="zh-CN" altLang="en-US" sz="1200" b="1"/>
              <a:t>终端侧模型组合回归测试与准入流程</a:t>
            </a:r>
            <a:endParaRPr lang="zh-CN" altLang="en-US" sz="1200" b="1"/>
          </a:p>
        </p:txBody>
      </p:sp>
      <p:pic>
        <p:nvPicPr>
          <p:cNvPr id="4" name="图片 3" descr="post_object_image_299880077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8789" y="1410284"/>
            <a:ext cx="3683794" cy="46070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标题 1"/>
          <p:cNvSpPr/>
          <p:nvPr>
            <p:ph type="title"/>
          </p:nvPr>
        </p:nvSpPr>
        <p:spPr>
          <a:xfrm>
            <a:off x="565150" y="339090"/>
            <a:ext cx="6024343" cy="612775"/>
          </a:xfrm>
        </p:spPr>
        <p:txBody>
          <a:bodyPr>
            <a:noAutofit/>
          </a:bodyPr>
          <a:lstStyle/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方向二：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adio Map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文本框 5"/>
          <p:cNvSpPr txBox="1"/>
          <p:nvPr/>
        </p:nvSpPr>
        <p:spPr>
          <a:xfrm>
            <a:off x="173778" y="951895"/>
            <a:ext cx="8020381" cy="5523853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1. Vodafone——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利用终端众包测量，生成蜂窝覆盖地图并识别薄弱区域</a:t>
            </a:r>
            <a:r>
              <a:rPr lang="en-US" altLang="zh-CN" b="1" baseline="30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[</a:t>
            </a:r>
            <a:r>
              <a:rPr lang="en-US" altLang="zh-CN" b="1" baseline="30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4</a:t>
            </a:r>
            <a:r>
              <a:rPr lang="en-US" altLang="zh-CN" b="1" baseline="30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]</a:t>
            </a:r>
            <a:endParaRPr lang="zh-CN" alt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研究问题与价值：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终端在日常使用中积累了大量带位置的信号测量和服务状态记录，但零散测量点难以直接说明一个小区覆盖到哪里、哪些区域可能存在覆盖问题。本研究将这些记录转化为覆盖边界与信号等级区域，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帮助筛选疑似薄弱位置，为后续场测复核、问题场景收集和测试选点提供依据。</a:t>
            </a:r>
            <a:endParaRPr lang="zh-CN" altLang="en-US" sz="1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核心思路：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在数据分析平台上，按小区整理终端众包记录，利用单类支持向量机（</a:t>
            </a: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OC-SVM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学习不同信号等级的空间分布。它根据已有测量形成可弯曲的覆盖边界，减少传统凸包法将大范围空白区域一并判为覆盖的问题，再结合弱信号和失去服务记录分析薄弱区域。</a:t>
            </a:r>
            <a:endParaRPr lang="zh-CN" altLang="en-US" sz="1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研究方法：</a:t>
            </a:r>
            <a:endParaRPr lang="zh-CN" altLang="en-US" sz="1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a.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按小区整理记录，形成空间分析输入。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将时间、经纬度、小区标识和信号等级等信息关联起来，进行坐标检查、异常值及重复事件处理。终端负责提供观测，后台利用这些记录分析覆盖分布；模型主要依据测量点的位置学习边界，不要求先建立完整传播仿真模型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b.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学习覆盖边界，减少几何包围造成的过度估计。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传统凸包法类似用一根橡皮筋包住最外围测量点，容易把中间缺少覆盖证据的区域也纳入。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OC-SVM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则学习测量点集中分布的区域，允许形成凹陷和不规则边界，输出某位置是否落在估计覆盖范围内的判断。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c.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按信号等级分层，筛选疑似薄弱区域。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别对不同信号等级的测量学习边界，形成强、弱覆盖的分层空间表示，并分析失去服务报告的地理分布。输出可进一步汇总到站点层面，用于定位需要复核的区域。没有测量的位置只能视为证据不足，不能直接认定为无覆盖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d.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按时间划分数据，验证覆盖估计效果。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利用较早时期的数据建模，在后续时期的数据上验证，以精确率、召回率和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F1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分数进行比较。右图显示，在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4,244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个小区、五类信号条件的平均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F1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对比中，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OC-SVM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均优于凸包法；但绝对分数仍较低，实际应用还需结合场测复核。</a:t>
            </a:r>
            <a:endParaRPr lang="zh-CN" altLang="en-US" sz="1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成熟度与研究启示：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论文提供了建模方法与离线对比，公开了基于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NetPerform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生成的合成数据，尚未验证自动生成场测路线的完整流程。可借鉴其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测量整理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分级建图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筛选区域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的方法；采样不足的区域仍需补测，不能直接认定为弱覆盖。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6912570" y="313126"/>
            <a:ext cx="4000471" cy="638739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120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[</a:t>
            </a:r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4</a:t>
            </a:r>
            <a:r>
              <a:rPr lang="en-US" altLang="zh-CN" sz="120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] T. Wong, T. Freeman, and J. Feehily, “Mobile Coverage Analysis using Crowdsourced Geolocation Data,” arXiv preprint arXiv:2510.13459, 2025.</a:t>
            </a:r>
            <a:endParaRPr lang="en-US" altLang="zh-CN" sz="1200"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图片 5" descr="post_object_image_13382889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4146" y="2328309"/>
            <a:ext cx="3784389" cy="3064771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9215861" y="5742517"/>
            <a:ext cx="2069042" cy="405130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zh-CN" altLang="en-US" sz="1200" b="1"/>
              <a:t>不同信号条件下，</a:t>
            </a:r>
            <a:r>
              <a:rPr lang="en-US" altLang="zh-CN" sz="1200" b="1"/>
              <a:t>OC-SVM</a:t>
            </a:r>
            <a:r>
              <a:rPr lang="zh-CN" altLang="en-US" sz="1200" b="1"/>
              <a:t>与凸包法的平均</a:t>
            </a:r>
            <a:r>
              <a:rPr lang="en-US" altLang="zh-CN" sz="1200" b="1"/>
              <a:t>F1</a:t>
            </a:r>
            <a:r>
              <a:rPr lang="zh-CN" altLang="en-US" sz="1200" b="1"/>
              <a:t>对比</a:t>
            </a:r>
            <a:endParaRPr lang="zh-CN" altLang="en-US" sz="12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标题 1"/>
          <p:cNvSpPr/>
          <p:nvPr>
            <p:ph type="title"/>
          </p:nvPr>
        </p:nvSpPr>
        <p:spPr>
          <a:xfrm>
            <a:off x="565150" y="339090"/>
            <a:ext cx="6024343" cy="612775"/>
          </a:xfrm>
        </p:spPr>
        <p:txBody>
          <a:bodyPr>
            <a:noAutofit/>
          </a:bodyPr>
          <a:lstStyle/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方向二：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adio Map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文本框 5"/>
          <p:cNvSpPr txBox="1"/>
          <p:nvPr/>
        </p:nvSpPr>
        <p:spPr>
          <a:xfrm>
            <a:off x="173778" y="951895"/>
            <a:ext cx="8761215" cy="5523853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2. TrajectoryDiff——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利用沿行走轨迹采集的零散测量，补全无线覆盖地图</a:t>
            </a:r>
            <a:r>
              <a:rPr lang="en-US" altLang="zh-CN" b="1" baseline="30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[</a:t>
            </a:r>
            <a:r>
              <a:rPr lang="en-US" altLang="zh-CN" b="1" baseline="30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5</a:t>
            </a:r>
            <a:r>
              <a:rPr lang="en-US" altLang="zh-CN" b="1" baseline="30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]</a:t>
            </a:r>
            <a:endParaRPr lang="zh-CN" alt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研究问题与价值：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手机采集的无线测量通常集中在用户经过的道路上，其他区域可能完全没有数据。直接展示测量点，只能看到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走过哪里、那里信号如何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，难以判断未经过区域的覆盖情况。本研究利用轨迹测量重建完整信号地图，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为筛选疑似弱覆盖区域、确定需要补测的位置提供空间依据，减少对全区域逐点测量的依赖。</a:t>
            </a:r>
            <a:endParaRPr lang="zh-CN" altLang="en-US" sz="1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核心思路：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将测到了什么、在哪里测到、周围采样是否充分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共同作为建图条件，结合建筑分布和发射机位置，利用扩散模型逐步生成完整的接收信号强度地图。模型先通过完整地图学习传播规律，使用时再由稀疏测量约束重建结果。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右图展示不同方法在未采样区域的重建误差对比。</a:t>
            </a:r>
            <a:endParaRPr lang="zh-CN" altLang="en-US" sz="1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研究方法：</a:t>
            </a:r>
            <a:endParaRPr lang="zh-CN" altLang="en-US" sz="1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a.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整理轨迹测量，构造空间输入。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将带位置的接收信号强度（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RSS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）整理为稀疏测量图，并生成标记采样位置的轨迹掩码和表示局部采样疏密的密度图，再与建筑图、发射机位置共同输入模型。这样既保留测量值，也明确哪些位置没有数据。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b.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引入覆盖感知注意力，利用有效观测补全地图。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模型从噪声图开始，反复去噪，逐步生成完整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RSS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地图。去噪过程中，根据局部采样密度调整信息权重，使已有测量能够有效约束重建，同时利用训练中学到的传播规律估计未采样区域。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c.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加入传播约束，减少不合理的重建结果。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训练时，一方面要求采样位置的重建值与输入测量保持一致；另一方面约束远离发射机区域的平均信号强度，避免整体传播趋势失真。该约束允许遮挡、反射等因素造成局部信号变化，并非要求信号随距离处处单调下降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d. 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多次生成取平均，同时输出不确定性。对相同输入生成多张地图，取逐位置平均值作为最终估计，以不同生成结果的离散程度表示不确定性。在轨迹仅覆盖可通行区域</a:t>
            </a: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1.6%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的实验中，单次生成的未采样区域</a:t>
            </a: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RMSE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为</a:t>
            </a: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7.33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10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次集成后降至</a:t>
            </a: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5.68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1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成熟度与研究启示：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已有公开代码及仿真数据上的离线验证，实验使用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RadioMapSeer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射线追踪地图与模拟行走轨迹；可借鉴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预测弱信号位置＋标记不确定区域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的思路，为后续补测选点提供依据。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4944070" y="143793"/>
            <a:ext cx="5926637" cy="808112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120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[</a:t>
            </a:r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5</a:t>
            </a:r>
            <a:r>
              <a:rPr lang="en-US" altLang="zh-CN" sz="120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] Y. Ansari, Z. Zhang and K. Harras, "TrajectoryDiff: Trajectory-Conditioned Diffusion for Radio Map Generation from Sparse Crowdsourced Measurements," in Proc. 34th ACM SIGSPATIAL Int. Conf. Advances in Geographic Information Systems (SIGSPATIAL '26), Riverside, CA, USA, 2026. doi:10.1145/3841645.3842997</a:t>
            </a:r>
            <a:endParaRPr lang="en-US" altLang="zh-CN" sz="1200"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9835858" y="5928443"/>
            <a:ext cx="1861020" cy="469508"/>
          </a:xfrm>
          <a:prstGeom prst="rect">
            <a:avLst/>
          </a:prstGeom>
          <a:ln w="9525" cmpd="sng">
            <a:noFill/>
            <a:prstDash val="solid"/>
            <a:miter lim="800000"/>
          </a:ln>
        </p:spPr>
        <p:txBody>
          <a:bodyPr wrap="square" rtlCol="0">
            <a:noAutofit/>
          </a:bodyPr>
          <a:p>
            <a:pPr algn="l"/>
            <a:r>
              <a:rPr lang="zh-CN" altLang="en-US" sz="1200" b="1"/>
              <a:t>稀疏轨迹采样下，未采样区域的地图重建误差对比</a:t>
            </a:r>
            <a:endParaRPr lang="zh-CN" altLang="en-US" sz="1200" b="1"/>
          </a:p>
        </p:txBody>
      </p:sp>
      <p:pic>
        <p:nvPicPr>
          <p:cNvPr id="4" name="图片 3" descr="post_object_image_3152173808"/>
          <p:cNvPicPr>
            <a:picLocks noChangeAspect="1"/>
          </p:cNvPicPr>
          <p:nvPr/>
        </p:nvPicPr>
        <p:blipFill>
          <a:blip r:embed="rId1"/>
          <a:srcRect l="10729" t="-195" r="2372" b="3712"/>
          <a:stretch>
            <a:fillRect/>
          </a:stretch>
        </p:blipFill>
        <p:spPr>
          <a:xfrm>
            <a:off x="8846868" y="1566855"/>
            <a:ext cx="3253599" cy="429401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标题 1"/>
          <p:cNvSpPr/>
          <p:nvPr>
            <p:ph type="title"/>
          </p:nvPr>
        </p:nvSpPr>
        <p:spPr>
          <a:xfrm>
            <a:off x="565150" y="339090"/>
            <a:ext cx="6024343" cy="612775"/>
          </a:xfrm>
        </p:spPr>
        <p:txBody>
          <a:bodyPr>
            <a:noAutofit/>
          </a:bodyPr>
          <a:lstStyle/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方向二：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adio Map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文本框 5"/>
          <p:cNvSpPr txBox="1"/>
          <p:nvPr/>
        </p:nvSpPr>
        <p:spPr>
          <a:xfrm>
            <a:off x="173778" y="951895"/>
            <a:ext cx="8105048" cy="5523853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3. 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基于稀疏测量的高效率城市三维无线电地图估计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[</a:t>
            </a:r>
            <a:r>
              <a:rPr lang="en-US" altLang="zh-CN" b="1" baseline="30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[</a:t>
            </a:r>
            <a:r>
              <a:rPr lang="en-US" altLang="zh-CN" b="1" baseline="30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6</a:t>
            </a:r>
            <a:r>
              <a:rPr lang="en-US" altLang="zh-CN" b="1" baseline="30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]</a:t>
            </a:r>
            <a:endParaRPr lang="zh-CN" alt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研究问题与价值：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城市中的信号强弱会随位置、高度和建筑遮挡发生变化，逐点测量整个三维空间，成本很高。本文研究如何利用少量实测测量，估计未测位置的信号强度。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价值包括两部分：一是补全未测位置的覆盖信息，二是选择更有代表性、更值得测量的位置，减少建图所需的采集量。</a:t>
            </a:r>
            <a:endParaRPr lang="zh-CN" altLang="en-US" sz="1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核心思路：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依据建筑和基站信息，通过射线追踪生成初步覆盖地图，再利用实测数据学习仿真误差，并将修正结果推广到未测位置：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最终信号估计＝仿真信号强度＋模型预测的修正量。</a:t>
            </a:r>
            <a:endParaRPr lang="zh-CN" altLang="en-US" sz="1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这里使用的高斯过程回归（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GPR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），可以根据已测位置之间的相关性估计其他位置的修正量，同时给出预测的不确定性。模型输入包括三维坐标和该位置的仿真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RSRP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1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研究方法：</a:t>
            </a:r>
            <a:endParaRPr lang="zh-CN" altLang="en-US" sz="1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a.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获取实测与环境信息，建立初步覆盖地图。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输入包括测量点的三维位置、参考信号接收功率（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RSRP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），以及建筑和基站信息。利用射线追踪获得各位置的仿真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RSRP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，为少量实测条件下的建图提供初始参考。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b.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学习仿真误差，补全未测位置的信号强度。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计算已测位置的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实测值－仿真值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，以三维坐标和仿真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RSRP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为模型输入，预测其他位置的修正量，再与仿真值相加，输出补全后的三维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RSRP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地图及预测不确定性。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c.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选择代表性或高不确定性位置，减少重复采集。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在线方式根据当前模型，逐轮选择预测不确定性最高的位置补测；离线方式按照位置与仿真信号强度聚类，一次选出一批代表点。两种方式分别适用于动态补测和预先安排采集任务。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d. 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利用实测数据，验证估计精度与采样效率。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作者通过无人机获得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4,274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个实测点，使用部分数据建模、其余数据验证。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右图显示，两种选点方案使用约</a:t>
            </a: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2%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的测量点，可达到约</a:t>
            </a: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10 dB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</a:t>
            </a: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RMSE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，而部分对比方案需要超过</a:t>
            </a: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14%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的测量点，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体现了减少测量量的效果。</a:t>
            </a:r>
            <a:endParaRPr lang="zh-CN" altLang="en-US" sz="1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成熟度与研究启示：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具备真实外场采集与建图精度对比。可借鉴其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仿真辅助建图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实测修正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选择位置补测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的方法。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6161153" y="143753"/>
            <a:ext cx="4730720" cy="808112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120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[</a:t>
            </a:r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6</a:t>
            </a:r>
            <a:r>
              <a:rPr lang="en-US" altLang="zh-CN" sz="120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] X. Chen, X. Zhong, Z. Zhang, L. Dai, and S. Zhou, “High-Efficiency Urban 3D Radio Map Estimation Based on Sparse Measurements,” IEEE Transactions on Vehicular Technology, vol. 74, no. 10, pp. 16488–16493, Oct. 2025, doi: 10.1109/TVT.2025.3573595.</a:t>
            </a:r>
            <a:endParaRPr lang="en-US" altLang="zh-CN" sz="1200"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9225045" y="5039443"/>
            <a:ext cx="2030353" cy="469508"/>
          </a:xfrm>
          <a:prstGeom prst="rect">
            <a:avLst/>
          </a:prstGeom>
          <a:ln w="9525" cmpd="sng">
            <a:noFill/>
            <a:prstDash val="solid"/>
            <a:miter lim="800000"/>
          </a:ln>
        </p:spPr>
        <p:txBody>
          <a:bodyPr wrap="square" rtlCol="0">
            <a:noAutofit/>
          </a:bodyPr>
          <a:p>
            <a:pPr algn="l"/>
            <a:r>
              <a:rPr lang="zh-CN" altLang="en-US" sz="1200" b="1"/>
              <a:t>不同采样比例下，各无线电地图估计方法的</a:t>
            </a:r>
            <a:r>
              <a:rPr lang="en-US" altLang="zh-CN" sz="1200" b="1"/>
              <a:t>RMSE</a:t>
            </a:r>
            <a:r>
              <a:rPr lang="zh-CN" altLang="en-US" sz="1200" b="1"/>
              <a:t>对比</a:t>
            </a:r>
            <a:endParaRPr lang="zh-CN" altLang="en-US" sz="1200" b="1"/>
          </a:p>
        </p:txBody>
      </p:sp>
      <p:pic>
        <p:nvPicPr>
          <p:cNvPr id="6" name="图片 5" descr="post_object_image_8852549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8813" y="2548996"/>
            <a:ext cx="3749932" cy="23296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6752</Words>
  <Application>WPS 演示</Application>
  <PresentationFormat>宽屏</PresentationFormat>
  <Paragraphs>123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宋体</vt:lpstr>
      <vt:lpstr>Wingdings</vt:lpstr>
      <vt:lpstr>Century Gothic</vt:lpstr>
      <vt:lpstr>微软雅黑</vt:lpstr>
      <vt:lpstr>等线</vt:lpstr>
      <vt:lpstr>Times New Roman</vt:lpstr>
      <vt:lpstr>Arial Unicode MS</vt:lpstr>
      <vt:lpstr>Arial Black</vt:lpstr>
      <vt:lpstr>Calibri</vt:lpstr>
      <vt:lpstr>Office 主题</vt:lpstr>
      <vt:lpstr>AI与通信融合研究进展调研四</vt:lpstr>
      <vt:lpstr>研究方向</vt:lpstr>
      <vt:lpstr>方向一：通信 AI 功能测试验收</vt:lpstr>
      <vt:lpstr>方向一：通信 AI 功能测试验收</vt:lpstr>
      <vt:lpstr>方向一：通信 AI 功能测试验收</vt:lpstr>
      <vt:lpstr>方向二：Radio Map</vt:lpstr>
      <vt:lpstr>方向二：Radio Map</vt:lpstr>
      <vt:lpstr>方向二：Radio Map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AI与通信融合研究进展调研四</dc:title>
  <dc:creator>王辉(72025223)</dc:creator>
  <cp:lastModifiedBy>Troye</cp:lastModifiedBy>
  <cp:revision>9</cp:revision>
  <dcterms:created xsi:type="dcterms:W3CDTF">2026-10-15T23:07:17Z</dcterms:created>
  <dcterms:modified xsi:type="dcterms:W3CDTF">2026-10-15T23:39:00Z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5D63043F8E99556F5323D06A609A9863_42</vt:lpwstr>
  </property>
  <property fmtid="{D5CDD505-2E9C-101B-9397-08002B2CF9AE}" pid="3" name="KSOProductBuildVer">
    <vt:lpwstr>2052-12.1.0.28505</vt:lpwstr>
  </property>
</Properties>
</file>