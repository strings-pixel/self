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70" r:id="rId5"/>
    <p:sldId id="261" r:id="rId6"/>
    <p:sldId id="271" r:id="rId7"/>
    <p:sldId id="272" r:id="rId8"/>
    <p:sldId id="273" r:id="rId9"/>
    <p:sldId id="274" r:id="rId10"/>
    <p:sldId id="262" r:id="rId11"/>
    <p:sldId id="275" r:id="rId12"/>
    <p:sldId id="264" r:id="rId13"/>
    <p:sldId id="265" r:id="rId14"/>
    <p:sldId id="276" r:id="rId15"/>
    <p:sldId id="266" r:id="rId16"/>
    <p:sldId id="267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84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fuhai" initials="w" lastIdx="0" clrIdx="0"/>
  <p:cmAuthor id="2" name="Microsoft Office User" initials="MOU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1"/>
        <p:guide pos="384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SafeSlice</a:t>
            </a:r>
            <a:r>
              <a:rPr lang="zh-CN" altLang="en-US"/>
              <a:t>解决的是共享基站资源时，</a:t>
            </a:r>
            <a:r>
              <a:rPr lang="en-US" altLang="zh-CN"/>
              <a:t>AI</a:t>
            </a:r>
            <a:r>
              <a:rPr lang="zh-CN" altLang="en-US"/>
              <a:t>提出的分配方案能不能直接执行的问题。</a:t>
            </a:r>
            <a:endParaRPr lang="zh-CN" altLang="en-US"/>
          </a:p>
          <a:p>
            <a:r>
              <a:rPr lang="zh-CN" altLang="en-US"/>
              <a:t>它把控制过程分为两层：强化学习负责提出资源方案，独立安全层负责检查这一次动作。长期奖励引导策略降低风险，但某一次动作仍可能超限，所以还要用</a:t>
            </a:r>
            <a:r>
              <a:rPr lang="en-US" altLang="zh-CN"/>
              <a:t>XGBoost</a:t>
            </a:r>
            <a:r>
              <a:rPr lang="zh-CN" altLang="en-US"/>
              <a:t>预测该方案造成的时延，再与业务门限比较。如果预计违规，就换成最接近的预测合格方案。</a:t>
            </a:r>
            <a:endParaRPr lang="zh-CN" altLang="en-US"/>
          </a:p>
          <a:p>
            <a:r>
              <a:rPr lang="zh-CN" altLang="en-US"/>
              <a:t>这里的动作是切片间资源比例，真正的无线资源分配和用户调度仍由基站执行。执行后的实际时延再反馈给控制流程，形成闭环。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这一页重点说明，安全层为什么能够预测，以及预测结果可信到什么程度。</a:t>
            </a:r>
            <a:endParaRPr lang="zh-CN" altLang="en-US"/>
          </a:p>
          <a:p>
            <a:r>
              <a:rPr lang="zh-CN" altLang="en-US"/>
              <a:t>训练时，作者在合理的业务范围内改变负载和资源方案，执行后记录时延，形成有标准答案的监督学习数据。部署时，执行后的时延还不知道，模型用前面的状态和候选动作进行估计。</a:t>
            </a:r>
            <a:endParaRPr lang="zh-CN" altLang="en-US"/>
          </a:p>
          <a:p>
            <a:r>
              <a:rPr lang="zh-CN" altLang="en-US"/>
              <a:t>实验显示违规明显减少，但模型仍有4.42毫秒的预测误差，而论文测试了5毫秒、10毫秒等门限。因此，我们尤其要关注门限附近是否放错动作。此外，这里检查的是窗口平均时延，仍需进一步验证个别用户的性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华为专利关注改变网络参数之前，怎样预估未来性能。</a:t>
            </a:r>
            <a:endParaRPr lang="zh-CN" altLang="en-US"/>
          </a:p>
          <a:p>
            <a:r>
              <a:rPr lang="zh-CN" altLang="en-US"/>
              <a:t>输入除了历史</a:t>
            </a:r>
            <a:r>
              <a:rPr lang="en-US" altLang="zh-CN"/>
              <a:t>KPI，</a:t>
            </a:r>
            <a:r>
              <a:rPr lang="zh-CN" altLang="en-US"/>
              <a:t>还包含历史参数和下一阶段准备采用的参数。模型用两条分支处理时间规律：</a:t>
            </a:r>
            <a:r>
              <a:rPr lang="en-US" altLang="zh-CN"/>
              <a:t>Transformer</a:t>
            </a:r>
            <a:r>
              <a:rPr lang="zh-CN" altLang="en-US"/>
              <a:t>学习一天内各小时的变化，</a:t>
            </a:r>
            <a:r>
              <a:rPr lang="en-US" altLang="zh-CN"/>
              <a:t>AttenInAtten</a:t>
            </a:r>
            <a:r>
              <a:rPr lang="zh-CN" altLang="en-US"/>
              <a:t>结合拟采用动作，利用多天之间的历史关系。最后输出下一天逐小时的吞吐量或业务量。</a:t>
            </a:r>
            <a:endParaRPr lang="zh-CN" altLang="en-US"/>
          </a:p>
          <a:p>
            <a:r>
              <a:rPr lang="zh-CN" altLang="en-US"/>
              <a:t>更换候选参数，就能比较不同方案的预测曲线。它提供了改参前评估效果的模型基础，但还没有像</a:t>
            </a:r>
            <a:r>
              <a:rPr lang="en-US" altLang="zh-CN"/>
              <a:t>SafeSlice</a:t>
            </a:r>
            <a:r>
              <a:rPr lang="zh-CN" altLang="en-US"/>
              <a:t>那样明确规定门限、筛选和替换动作，所以效果预测之后仍需要安全判断和实际验证。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两项研究共同强调，候选动作应进入预测模型。华为专利回答不同参数下未来性能可能怎样变化，</a:t>
            </a:r>
            <a:r>
              <a:rPr lang="en-US" altLang="zh-CN"/>
              <a:t>SafeSlice</a:t>
            </a:r>
            <a:r>
              <a:rPr lang="zh-CN" altLang="en-US"/>
              <a:t>进一步把预测结果接入业务门限，并处理可能违规的动作。</a:t>
            </a:r>
            <a:endParaRPr lang="zh-CN" altLang="en-US"/>
          </a:p>
          <a:p>
            <a:r>
              <a:rPr lang="zh-CN" altLang="en-US"/>
              <a:t>对手机企业测试的启示，首先是把执行前状态、采用的配置和执行后结果关联起来。其次，合格标准要与实际业务要求对应，不能只看平均预测误差。最后，需要通过真机结果检查哪些动作被错误放行、哪些被错误拦截。</a:t>
            </a:r>
            <a:endParaRPr lang="zh-CN" altLang="en-US"/>
          </a:p>
          <a:p>
            <a:r>
              <a:rPr lang="zh-CN" altLang="en-US"/>
              <a:t>这些机制可以在可控测试系统中验证，形成从配置效果预测到执行后反馈的完整评价过程。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这一页介绍苹果的卡顿预期上报。它关注的是，播放器已经知道自己快要卡顿了，怎样把这个信息及时交给无线网络。</a:t>
            </a:r>
            <a:endParaRPr lang="zh-CN" altLang="en-US"/>
          </a:p>
          <a:p>
            <a:r>
              <a:rPr lang="zh-CN" altLang="en-US"/>
              <a:t>应用先根据缓冲和下载情况判断风险，再把预计卡顿时间等信息交给基带，由基带上报给基站。部分方案还要求播放器先尝试降低码率等自救措施，仍然无法避免卡顿时再报告。</a:t>
            </a:r>
            <a:endParaRPr lang="zh-CN" altLang="en-US"/>
          </a:p>
          <a:p>
            <a:r>
              <a:rPr lang="zh-CN" altLang="en-US"/>
              <a:t>基站收到信息后，结合负载和资源决定是否帮助。因此，这篇的价值主要在跨层协同。对测试而言，需要同时检查预警是否及时、报告是否有效，以及网络响应后是否真正改善了体验。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这一篇关注网络预测怎样接受终端的现场核验。</a:t>
            </a:r>
            <a:endParaRPr lang="zh-CN" altLang="en-US"/>
          </a:p>
          <a:p>
            <a:r>
              <a:rPr lang="zh-CN" altLang="en-US"/>
              <a:t>它有两个机制。第一，终端保存测量配置，网络需要验证时再触发测量，减少重复配置。第二，如果网络根据预测下发切换命令，就把预测值和允许偏差一起交给终端。终端用较新的实测结果核对，偏差过大时，按照专利方案拒绝并反馈。</a:t>
            </a:r>
            <a:endParaRPr lang="zh-CN" altLang="en-US"/>
          </a:p>
          <a:p>
            <a:r>
              <a:rPr lang="zh-CN" altLang="en-US"/>
              <a:t>因此，终端在这里既提供数据，也核验动作依据。我们可以重点关注预测偏差与实际切换失败之间的关系，以及增加这层核验后，可靠性收益和测量开销如何变化。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第三篇关注模型上线以后怎样持续保持可靠。</a:t>
            </a:r>
            <a:endParaRPr lang="zh-CN" altLang="en-US"/>
          </a:p>
          <a:p>
            <a:r>
              <a:rPr lang="zh-CN" altLang="en-US"/>
              <a:t>终端先上报监控指标，网络比较当前与历史表现，发现退化后决定换模型或微调。候选模型回到终端后，还要重新计算指标，通过验证才能正式激活。如果没有通过，就保留原有模型或回退到传统功能。</a:t>
            </a:r>
            <a:endParaRPr lang="zh-CN" altLang="en-US"/>
          </a:p>
          <a:p>
            <a:r>
              <a:rPr lang="zh-CN" altLang="en-US"/>
              <a:t>这里要分清两件事：漂移检测判断旧模型是否需要处理，新模型验证判断替代方案能否启用。对手机企业而言，这提示测试应覆盖环境变化、模型更新和回退全过程，并结合</a:t>
            </a:r>
            <a:r>
              <a:rPr lang="en-US" altLang="zh-CN"/>
              <a:t>RAN4</a:t>
            </a:r>
            <a:r>
              <a:rPr lang="zh-CN" altLang="en-US"/>
              <a:t>要求，检查模型变化是否影响实际无线性能。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这一页介绍</a:t>
            </a:r>
            <a:r>
              <a:rPr lang="en-US" altLang="zh-CN"/>
              <a:t>PropSplat，</a:t>
            </a:r>
            <a:r>
              <a:rPr lang="zh-CN" altLang="en-US"/>
              <a:t>关注怎样用少量无线实测建立传播模型。</a:t>
            </a:r>
            <a:endParaRPr lang="zh-CN" altLang="en-US"/>
          </a:p>
          <a:p>
            <a:r>
              <a:rPr lang="zh-CN" altLang="en-US"/>
              <a:t>它把预测拆成两部分：基础模型先描述距离带来的总体衰减，三维高斯体再学习这个场景里的局部差异。训练时不断比较预测和实测，调整这些参数，之后就能查询未测链路的损耗。</a:t>
            </a:r>
            <a:endParaRPr lang="zh-CN" altLang="en-US"/>
          </a:p>
          <a:p>
            <a:r>
              <a:rPr lang="zh-CN" altLang="en-US"/>
              <a:t>这里要注意，无地图指不需要建筑或地形资料，两端坐标仍然需要。论文在真实室外路测和室内</a:t>
            </a:r>
            <a:r>
              <a:rPr lang="en-US" altLang="zh-CN"/>
              <a:t>BLE</a:t>
            </a:r>
            <a:r>
              <a:rPr lang="zh-CN" altLang="en-US"/>
              <a:t>数据上验证了效果，但目前主要是静态环境的离线建模。对测试工作的价值，是用少量测量补出空间信息，帮助判断后续哪些区域值得重点测试。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这一页介绍</a:t>
            </a:r>
            <a:r>
              <a:rPr lang="en-US" altLang="zh-CN"/>
              <a:t>Radio Map</a:t>
            </a:r>
            <a:r>
              <a:rPr lang="zh-CN" altLang="en-US"/>
              <a:t>的两类直接用途。</a:t>
            </a:r>
            <a:endParaRPr lang="zh-CN" altLang="en-US"/>
          </a:p>
          <a:p>
            <a:r>
              <a:rPr lang="zh-CN" altLang="en-US"/>
              <a:t>室内定位是用信号查位置。地图事先保存各位置的无线指纹，手机获得当前信号后，与这些指纹比较，估计自己在哪里。</a:t>
            </a:r>
            <a:r>
              <a:rPr lang="en-US" altLang="zh-CN"/>
              <a:t>Leto</a:t>
            </a:r>
            <a:r>
              <a:rPr lang="zh-CN" altLang="en-US"/>
              <a:t>重点解决建图成本问题，利用用户轨迹和少量地标，减少逐点人工标注。</a:t>
            </a:r>
            <a:endParaRPr lang="zh-CN" altLang="en-US"/>
          </a:p>
          <a:p>
            <a:r>
              <a:rPr lang="zh-CN" altLang="en-US"/>
              <a:t>覆盖分析则是把终端服务记录放到空间中，观察哪些区域有服务、哪些区域经常出现问题。它输出覆盖轮廓和疑似弱点，帮助确定补测位置。这里需要区分无服务记录和没有采样，地图上的空白区域还需要实际测量确认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这一页介绍地图怎样参与通信决策。</a:t>
            </a:r>
            <a:endParaRPr lang="zh-CN" altLang="en-US"/>
          </a:p>
          <a:p>
            <a:r>
              <a:rPr lang="zh-CN" altLang="en-US"/>
              <a:t>移动性应用需要知道各位置的信号风险。研究先用多次测量描述低信号事件，再根据终端位置，查询哪个基站能够以较低功率满足可靠性要求。所以，地图最终支持的是基站选择和功率配置。</a:t>
            </a:r>
            <a:endParaRPr lang="zh-CN" altLang="en-US"/>
          </a:p>
          <a:p>
            <a:r>
              <a:rPr lang="zh-CN" altLang="en-US"/>
              <a:t>覆盖优化需要模型能够响应参数变化。输入不同天线方向，得到不同覆盖地图，再比较目标区域的效果，寻找较好的配置。</a:t>
            </a:r>
            <a:endParaRPr lang="zh-CN" altLang="en-US"/>
          </a:p>
          <a:p>
            <a:r>
              <a:rPr lang="zh-CN" altLang="en-US"/>
              <a:t>这两类应用的关键，是先明确决策需要什么信息，再建立相应地图。最终选择的连接或配置，仍要通过实际通信测试验证。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这一页介绍卫星切换与视频码率的联合优化。</a:t>
            </a:r>
            <a:endParaRPr lang="zh-CN" altLang="en-US"/>
          </a:p>
          <a:p>
            <a:r>
              <a:rPr lang="zh-CN" altLang="en-US"/>
              <a:t>二者需要共同决定，因为选择哪颗卫星会影响后续下载速度，切换中断又会消耗播放器缓冲。作者分别设计</a:t>
            </a:r>
            <a:r>
              <a:rPr lang="en-US" altLang="zh-CN"/>
              <a:t>MPC</a:t>
            </a:r>
            <a:r>
              <a:rPr lang="zh-CN" altLang="en-US"/>
              <a:t>和</a:t>
            </a:r>
            <a:r>
              <a:rPr lang="en-US" altLang="zh-CN"/>
              <a:t>PPO：MPC</a:t>
            </a:r>
            <a:r>
              <a:rPr lang="zh-CN" altLang="en-US"/>
              <a:t>试算未来几段视频的方案，</a:t>
            </a:r>
            <a:r>
              <a:rPr lang="en-US" altLang="zh-CN"/>
              <a:t>PPO</a:t>
            </a:r>
            <a:r>
              <a:rPr lang="zh-CN" altLang="en-US"/>
              <a:t>直接学习卫星和码率组合；多用户训练还考虑资源竞争。</a:t>
            </a:r>
            <a:endParaRPr lang="zh-CN" altLang="en-US"/>
          </a:p>
          <a:p>
            <a:r>
              <a:rPr lang="zh-CN" altLang="en-US"/>
              <a:t>实验显示联合决策能够改善视频体验，代码和数据也已公开。不过，测试床是在不同</a:t>
            </a:r>
            <a:r>
              <a:rPr lang="en-US" altLang="zh-CN"/>
              <a:t>TCP</a:t>
            </a:r>
            <a:r>
              <a:rPr lang="zh-CN" altLang="en-US"/>
              <a:t>连接之间切换，模拟卫星链路，没有实际控制</a:t>
            </a:r>
            <a:r>
              <a:rPr lang="en-US" altLang="zh-CN"/>
              <a:t>Starlink</a:t>
            </a:r>
            <a:r>
              <a:rPr lang="zh-CN" altLang="en-US"/>
              <a:t>选星。对我们的价值，是将链路切换和应用播放状态联系起来，评价动态通信条件下的业务连续性。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最后一个方向直接关注手机上的</a:t>
            </a:r>
            <a:r>
              <a:rPr lang="en-US" altLang="zh-CN"/>
              <a:t>AI</a:t>
            </a:r>
            <a:r>
              <a:rPr lang="zh-CN" altLang="en-US"/>
              <a:t>功能怎样测试。</a:t>
            </a:r>
            <a:endParaRPr lang="zh-CN" altLang="en-US"/>
          </a:p>
          <a:p>
            <a:r>
              <a:rPr lang="zh-CN" altLang="en-US"/>
              <a:t>专利提出先测单项功能，建立基准，再加入另一项</a:t>
            </a:r>
            <a:r>
              <a:rPr lang="en-US" altLang="zh-CN"/>
              <a:t>AI</a:t>
            </a:r>
            <a:r>
              <a:rPr lang="zh-CN" altLang="en-US"/>
              <a:t>功能，比较准确度、报告时延和终端资源占用。这样可以发现单独合格、同时运行却退化的问题。测试系统还可以通过数据集驱动另一模型运行，制造附加负载，但这种方式不代表两项功能都完成了空口验证。</a:t>
            </a:r>
            <a:endParaRPr lang="zh-CN" altLang="en-US"/>
          </a:p>
          <a:p>
            <a:r>
              <a:rPr lang="zh-CN" altLang="en-US"/>
              <a:t>与</a:t>
            </a:r>
            <a:r>
              <a:rPr lang="en-US" altLang="zh-CN"/>
              <a:t>RAN4</a:t>
            </a:r>
            <a:r>
              <a:rPr lang="zh-CN" altLang="en-US"/>
              <a:t>的关系，是利用对应无线性能要求检查联合运行后是否仍然达标。对手机企业，这项研究的价值很直接：把模型验证扩展为终端功能组合验证，同时关注计算时限与实际通信表现。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383647" y="1073427"/>
            <a:ext cx="11424706" cy="4515807"/>
          </a:xfrm>
          <a:prstGeom prst="rect">
            <a:avLst/>
          </a:prstGeom>
          <a:solidFill>
            <a:srgbClr val="005BAC">
              <a:alpha val="85000"/>
            </a:srgbClr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 anchorCtr="0"/>
          <a:lstStyle>
            <a:lvl1pPr algn="ctr">
              <a:defRPr sz="18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</a:t>
            </a:r>
            <a:endParaRPr kumimoji="1" lang="zh-CN" altLang="en-US" dirty="0"/>
          </a:p>
        </p:txBody>
      </p:sp>
      <p:sp>
        <p:nvSpPr>
          <p:cNvPr id="76" name="标题 75"/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738664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kumimoji="1" lang="zh-CN" altLang="en-US" dirty="0"/>
              <a:t>编辑标题样式</a:t>
            </a:r>
            <a:endParaRPr kumimoji="1" lang="zh-CN" altLang="en-US" dirty="0"/>
          </a:p>
        </p:txBody>
      </p:sp>
      <p:sp>
        <p:nvSpPr>
          <p:cNvPr id="79" name="文本占位符 78"/>
          <p:cNvSpPr>
            <a:spLocks noGrp="1"/>
          </p:cNvSpPr>
          <p:nvPr>
            <p:ph type="body" sz="quarter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defRPr sz="20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电子信息与通信学院</a:t>
            </a:r>
            <a:endParaRPr kumimoji="1"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8" name="直接连接符 23"/>
          <p:cNvCxnSpPr>
            <a:stCxn id="14" idx="2"/>
            <a:endCxn id="15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002" y="5776087"/>
            <a:ext cx="1235730" cy="938799"/>
          </a:xfrm>
          <a:prstGeom prst="rect">
            <a:avLst/>
          </a:prstGeom>
        </p:spPr>
      </p:pic>
      <p:sp>
        <p:nvSpPr>
          <p:cNvPr id="21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Century Gothic" panose="020B0502020202020204"/>
                <a:ea typeface="微软雅黑" panose="020B0503020204020204" charset="-122"/>
                <a:cs typeface="+mn-cs"/>
              </a:rPr>
              <a:t>明德厚学 求是创新</a:t>
            </a:r>
            <a:endParaRPr lang="zh-CN" altLang="en-US" sz="1400" kern="1200" dirty="0">
              <a:solidFill>
                <a:srgbClr val="005BAC"/>
              </a:solidFill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占位符 78"/>
          <p:cNvSpPr>
            <a:spLocks noGrp="1"/>
          </p:cNvSpPr>
          <p:nvPr>
            <p:ph type="body" sz="quarter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编辑副标题</a:t>
            </a:r>
            <a:endParaRPr kumimoji="1" lang="zh-CN" altLang="en-US" dirty="0"/>
          </a:p>
        </p:txBody>
      </p:sp>
      <p:sp>
        <p:nvSpPr>
          <p:cNvPr id="26" name="文本占位符 78"/>
          <p:cNvSpPr>
            <a:spLocks noGrp="1"/>
          </p:cNvSpPr>
          <p:nvPr>
            <p:ph type="body" sz="quarter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en-US" altLang="zh-CN" dirty="0"/>
              <a:t>xxx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</a:rPr>
              <a:t>White markers indicate position of  Drawing Guides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7.40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2.91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6.00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2.36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8.00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3.15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</a:rPr>
              <a:t>11.70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0.50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9" name="TextBox 22"/>
          <p:cNvSpPr txBox="1">
            <a:spLocks noChangeArrowheads="1"/>
          </p:cNvSpPr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</a:rPr>
              <a:t>0.50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20" name="TextBox 23"/>
          <p:cNvSpPr txBox="1">
            <a:spLocks noChangeArrowheads="1"/>
          </p:cNvSpPr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11.70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/>
          <p:nvPr/>
        </p:nvSpPr>
        <p:spPr bwMode="gray">
          <a:xfrm>
            <a:off x="-2055284" y="0"/>
            <a:ext cx="1871133" cy="584775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</a:rPr>
              <a:t>To view  drawing guides:</a:t>
            </a:r>
            <a:endParaRPr lang="en-US" sz="700" b="1" dirty="0">
              <a:solidFill>
                <a:srgbClr val="FFFFFF"/>
              </a:solidFill>
            </a:endParaRPr>
          </a:p>
          <a:p>
            <a:pPr>
              <a:defRPr/>
            </a:pPr>
            <a:endParaRPr lang="en-US" sz="300" b="1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Right-click on slide and select ’Grid and Guides...’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Check ’Display drawing guides on screen’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Select ’OK’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368" y="395289"/>
            <a:ext cx="11231033" cy="492443"/>
          </a:xfrm>
        </p:spPr>
        <p:txBody>
          <a:bodyPr lIns="108000"/>
          <a:lstStyle/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7"/>
          </p:nvPr>
        </p:nvSpPr>
        <p:spPr>
          <a:xfrm>
            <a:off x="477838" y="1052513"/>
            <a:ext cx="11231562" cy="5235575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20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179705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8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358775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539750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4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114550" indent="-285750">
              <a:buClr>
                <a:schemeClr val="tx2"/>
              </a:buClr>
              <a:buFont typeface="Wingdings" panose="05000000000000000000" pitchFamily="2" charset="2"/>
              <a:buChar char="n"/>
              <a:defRPr lang="zh-CN" altLang="en-US" sz="1400" b="0" i="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单击此处编辑母版文本样式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179705" marR="0" lvl="1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第二级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358775" marR="0" lvl="2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第三级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539750" marR="0" lvl="3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第四级</a:t>
            </a:r>
            <a:endParaRPr kumimoji="1" lang="zh-CN" altLang="en-US" dirty="0"/>
          </a:p>
        </p:txBody>
      </p:sp>
      <p:grpSp>
        <p:nvGrpSpPr>
          <p:cNvPr id="25" name="组合 24"/>
          <p:cNvGrpSpPr>
            <a:grpSpLocks noChangeAspect="1"/>
          </p:cNvGrpSpPr>
          <p:nvPr userDrawn="1"/>
        </p:nvGrpSpPr>
        <p:grpSpPr>
          <a:xfrm>
            <a:off x="10889097" y="451528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27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8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9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0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1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2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3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4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cxnSp>
        <p:nvCxnSpPr>
          <p:cNvPr id="35" name="直接连接符 23"/>
          <p:cNvCxnSpPr>
            <a:endCxn id="33" idx="0"/>
          </p:cNvCxnSpPr>
          <p:nvPr userDrawn="1"/>
        </p:nvCxnSpPr>
        <p:spPr>
          <a:xfrm>
            <a:off x="0" y="966439"/>
            <a:ext cx="10889097" cy="11042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sp>
        <p:nvSpPr>
          <p:cNvPr id="42" name="矩形 41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日期占位符 135"/>
          <p:cNvSpPr txBox="1"/>
          <p:nvPr userDrawn="1"/>
        </p:nvSpPr>
        <p:spPr>
          <a:xfrm>
            <a:off x="8817580" y="6500767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768395"/>
                </a:solidFill>
                <a:latin typeface="Century Gothic" panose="020B0502020202020204"/>
                <a:ea typeface="微软雅黑" panose="020B0503020204020204" charset="-122"/>
              </a:rPr>
              <a:t>华中科技大学电子信息与通信学院</a:t>
            </a:r>
            <a:endParaRPr lang="zh-CN" altLang="en-US" dirty="0">
              <a:solidFill>
                <a:srgbClr val="768395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45" name="页脚占位符 136"/>
          <p:cNvSpPr txBox="1"/>
          <p:nvPr userDrawn="1"/>
        </p:nvSpPr>
        <p:spPr>
          <a:xfrm>
            <a:off x="494122" y="6497233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768395"/>
                </a:solidFill>
                <a:latin typeface="Century Gothic" panose="020B0502020202020204"/>
                <a:ea typeface="微软雅黑" panose="020B0503020204020204" charset="-122"/>
              </a:rPr>
              <a:t>明德厚学 求是创新</a:t>
            </a:r>
            <a:endParaRPr lang="zh-CN" altLang="en-US" dirty="0">
              <a:solidFill>
                <a:srgbClr val="768395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48" name="Slide Number Placeholder 5"/>
          <p:cNvSpPr txBox="1"/>
          <p:nvPr userDrawn="1"/>
        </p:nvSpPr>
        <p:spPr>
          <a:xfrm>
            <a:off x="6063642" y="6568610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</a:rPr>
              <a:t>White markers indicate position of  Drawing Guides</a:t>
            </a:r>
            <a:endParaRPr lang="en-US" sz="900" dirty="0">
              <a:solidFill>
                <a:srgbClr val="FFFFFF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7.40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2.91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-1255183" y="1377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6.00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2.36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</a:rPr>
              <a:t>8.00 cm</a:t>
            </a:r>
            <a:endParaRPr lang="en-US" sz="700" dirty="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</a:rPr>
              <a:t>3.15 Inches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15" name="TextBox 20"/>
          <p:cNvSpPr txBox="1">
            <a:spLocks noChangeArrowheads="1"/>
          </p:cNvSpPr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</a:rPr>
              <a:t>11.70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0.50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7" name="TextBox 22"/>
          <p:cNvSpPr txBox="1">
            <a:spLocks noChangeArrowheads="1"/>
          </p:cNvSpPr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</a:rPr>
              <a:t>0.50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11.70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4"/>
          <p:cNvSpPr/>
          <p:nvPr/>
        </p:nvSpPr>
        <p:spPr bwMode="gray">
          <a:xfrm>
            <a:off x="-2055284" y="0"/>
            <a:ext cx="1871133" cy="584775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</a:rPr>
              <a:t>To view  drawing guides:</a:t>
            </a:r>
            <a:endParaRPr lang="en-US" sz="700" b="1" dirty="0">
              <a:solidFill>
                <a:srgbClr val="FFFFFF"/>
              </a:solidFill>
            </a:endParaRPr>
          </a:p>
          <a:p>
            <a:pPr>
              <a:defRPr/>
            </a:pPr>
            <a:endParaRPr lang="en-US" sz="300" b="1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Right-click on slide and select ’Grid and Guides...’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Check ’Display drawing guides on screen’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Select ’OK’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40" name="矩形 39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69" name="组合 68"/>
          <p:cNvGrpSpPr>
            <a:grpSpLocks noChangeAspect="1"/>
          </p:cNvGrpSpPr>
          <p:nvPr userDrawn="1"/>
        </p:nvGrpSpPr>
        <p:grpSpPr>
          <a:xfrm>
            <a:off x="11036334" y="371250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70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1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2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3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4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5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6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7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cxnSp>
        <p:nvCxnSpPr>
          <p:cNvPr id="81" name="直接连接符 23"/>
          <p:cNvCxnSpPr/>
          <p:nvPr userDrawn="1"/>
        </p:nvCxnSpPr>
        <p:spPr>
          <a:xfrm>
            <a:off x="0" y="908720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80000"/>
              </a:srgbClr>
            </a:solidFill>
            <a:prstDash val="solid"/>
            <a:miter lim="800000"/>
          </a:ln>
          <a:effectLst/>
        </p:spPr>
      </p:cxnSp>
      <p:cxnSp>
        <p:nvCxnSpPr>
          <p:cNvPr id="90" name="直接连接符 23"/>
          <p:cNvCxnSpPr/>
          <p:nvPr userDrawn="1"/>
        </p:nvCxnSpPr>
        <p:spPr>
          <a:xfrm>
            <a:off x="-2381" y="6512981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日期占位符 135"/>
          <p:cNvSpPr txBox="1"/>
          <p:nvPr userDrawn="1"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华中科技大学电子信息与通信学院</a:t>
            </a:r>
            <a:endParaRPr lang="zh-CN" altLang="en-US" dirty="0">
              <a:solidFill>
                <a:srgbClr val="005BAD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页脚占位符 136"/>
          <p:cNvSpPr txBox="1"/>
          <p:nvPr userDrawn="1"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明德厚学 求是创新</a:t>
            </a:r>
            <a:endParaRPr lang="zh-CN" altLang="en-US" dirty="0">
              <a:solidFill>
                <a:srgbClr val="005BAD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Slide Number Placeholder 5"/>
          <p:cNvSpPr txBox="1"/>
          <p:nvPr userDrawn="1"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3DA0BB7-265A-403C-9275-D587AB510EDC}" type="slidenum">
              <a:rPr lang="zh-TW" altLang="en-US" b="0" smtClean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TW" altLang="en-US" b="0" dirty="0">
              <a:solidFill>
                <a:srgbClr val="005BAD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itle 1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defRPr sz="28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1705" y="2629535"/>
            <a:ext cx="7767955" cy="664210"/>
          </a:xfrm>
        </p:spPr>
        <p:txBody>
          <a:bodyPr wrap="square">
            <a:normAutofit fontScale="90000"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与通信融合研究进展调研二</a:t>
            </a:r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593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4448810" y="4185285"/>
            <a:ext cx="3295015" cy="4406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汇报人：朱甜甜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48594" name="文本占位符 2"/>
          <p:cNvSpPr>
            <a:spLocks noGrp="1"/>
          </p:cNvSpPr>
          <p:nvPr/>
        </p:nvSpPr>
        <p:spPr>
          <a:xfrm>
            <a:off x="4618698" y="4855743"/>
            <a:ext cx="3024188" cy="3589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/>
          <a:lstStyle>
            <a:lvl1pPr algn="ctr" rtl="0" eaLnBrk="1" fontAlgn="base" hangingPunct="1">
              <a:spcBef>
                <a:spcPts val="15"/>
              </a:spcBef>
              <a:spcAft>
                <a:spcPct val="0"/>
              </a:spcAft>
              <a:buFont typeface="Arial" panose="020B0604020202020204" pitchFamily="34" charset="0"/>
              <a:defRPr lang="en-US" sz="1800" b="1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1pPr>
            <a:lvl2pPr marL="179705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2pPr>
            <a:lvl3pPr marL="358775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3pPr>
            <a:lvl4pPr marL="539750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4pPr>
            <a:lvl5pPr marL="719455" indent="-179705" algn="l" rtl="0" eaLnBrk="1" fontAlgn="base" hangingPunct="1"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‒"/>
              <a:defRPr lang="en-GB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5pPr>
            <a:lvl6pPr marL="899795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7950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‒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‒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2026.09.30</a:t>
            </a:r>
            <a:endParaRPr lang="en-US" altLang="zh-CN" sz="20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21665" y="297180"/>
            <a:ext cx="10259695" cy="687070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研究方向</a:t>
            </a:r>
            <a:endParaRPr lang="zh-CN" altLang="en-US" sz="3200" dirty="0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565150" y="1229360"/>
          <a:ext cx="10882630" cy="504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9670"/>
              </a:tblGrid>
              <a:tr h="516890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方向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汇报主题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88201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一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动作安全校验：候选动作效果预测与执行前检查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85153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二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苹果智能通信专利：业务体验反馈与 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预测、模型验证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9302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三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Radio Map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：无线环境建模及其应用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9302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四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卫星通信：卫星切换与视频码率联合优化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929640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五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测试系统与 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算法验证：终端多项 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功能联合测试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方向一：动作安全校验——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SafeSlice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的方法与控制流程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5"/>
          <p:cNvSpPr txBox="1"/>
          <p:nvPr/>
        </p:nvSpPr>
        <p:spPr>
          <a:xfrm>
            <a:off x="258445" y="951865"/>
            <a:ext cx="11734165" cy="5286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SafeSlice：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资源分配动作执行前预测时延并检查风险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视频、语音和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VR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业务共享基站无线资源，但对时延的要求不同。强化学习能够根据业务变化调整资源分配，然而，在新负载或新场景下探索不合适的动作，可能导致业务时延超过服务等级协议（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SLA）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门限。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SafeSlice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将长期风险约束与单次动作安全校验结合，在节省资源的同时降低时延违规风险。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强化学习提出候选动作。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采用优势演员—评论家算法（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A2C），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根据上一控制窗口各切片的业务流量占比，决定下一窗口各切片获得的物理资源块（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PRB）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比例。这里调整的是切片之间的资源配额，窗口内的用户调度继续由基站执行。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奖励函数约束长期风险。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奖励同时考虑资源消耗与业务时延，利用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Sigmoid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函数提高接近时延门限时的惩罚，使策略长期倾向于选择资源开销较小、时延风险较低的方案。但长期奖励不能单独避免某一次动作超限。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独立模型预测当前动作后果。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XGBoost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回归模型读取当前业务状态、候选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PRB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分配和上一窗口实际时延，输出采用该方案后，本控制窗口的切片平均用户时延。预测对象随候选动作变化，因此能够比较不同资源方案的后果。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安全层检查并替换动作。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将预测时延与各切片门限比较。若有切片预计超限，则筛选预测合格的备选方案，并选择资源分配向量与原方案欧氏距离最小的一项，尽量保留原策略的资源效率。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部署位置与反馈闭环：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论文提出将训练数据与模型管理放在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非实时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RIC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一侧，将部署控制结合近实时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RIC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流程。控制结果通过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E2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接口作用于基站无线资源分配，最终由基站调度功能执行。窗口结束后采集实际时延、奖励和新状态，继续更新策略。手机产生业务并承受通信性能结果，安全控制算法属于网络侧。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方向一：动作安全校验——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SafeSlice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的方法与控制流程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5"/>
          <p:cNvSpPr txBox="1"/>
          <p:nvPr/>
        </p:nvSpPr>
        <p:spPr>
          <a:xfrm>
            <a:off x="258445" y="951865"/>
            <a:ext cx="11734165" cy="5293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.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SafeSlice：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资源分配动作执行前预测时延并检查风险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时延预测模型如何训练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论文没有完整的真实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O-RAN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交互数据，因此采用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引导式域随机化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构造训练样本：以真实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VR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游戏流量轨迹和视频、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VoNR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业务模型限定合理场景，改变用户数量、业务负载和离散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PRB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分配，在仿真网络中执行动作，记录执行后的时延。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因此，该模型学习的是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当前状态下采用某个动作，会产生多大时延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，区别于仅根据历史序列预测未来自然变化的时序模型。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在相同或变化的业务负载、时延门限条件下评价控制效果。论文测试中，相较所比较的基线，平均累计时延最高降低 83.23%，瞬时时延违规最高降低 93.24%，资源消耗最高降低 22.13%。这些是不同实验比较中的最高改善幅度。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XGBoost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时延预测模型测试集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R²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 0.94，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RMSE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 4.42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ms。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其中，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R²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描述整体拟合程度，不能解释为每次预测有 94%的可信度。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研究成熟度与启示：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现有性能证据主要来自仿真，未完成真实基站与终端的安全闭环验证。论文中的“瞬时约束”针对每次动作对应控制窗口的平均时延。预测低于门限，仍可能因模型误差实际超限；平均时延达标，也不代表每个用户都达标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安全校验不仅要评价整体预测精度，还应重点统计门限附近的判断错误，以及预测合格但实际超限的动作。除了本文所考虑的时延，也可以迁移到吞吐量、卡顿或掉话等指标，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但要注意需要重新采集对应标签、训练模型并设置合格门限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71475" y="2232025"/>
          <a:ext cx="9915525" cy="173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5"/>
                <a:gridCol w="3305175"/>
                <a:gridCol w="3305175"/>
              </a:tblGrid>
              <a:tr h="34671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数据组成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训练阶段的作用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部署预测阶段的作用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4671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各切片业务流量占比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描述执行前业务状态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模型输入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4671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候选 </a:t>
                      </a:r>
                      <a:r>
                        <a:rPr lang="en-US" altLang="zh-CN" sz="1100"/>
                        <a:t>PRB </a:t>
                      </a:r>
                      <a:r>
                        <a:rPr lang="zh-CN" altLang="en-US" sz="1100"/>
                        <a:t>分配方案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描述采用的控制动作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模型输入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4671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上一窗口实际时延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提供近期性能信息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模型输入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4671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本次动作执行后的平均时延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监督学习标签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尚未发生，由模型预测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方向一：动作安全校验——华为候选配置效果预测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5"/>
          <p:cNvSpPr txBox="1"/>
          <p:nvPr/>
        </p:nvSpPr>
        <p:spPr>
          <a:xfrm>
            <a:off x="258445" y="951865"/>
            <a:ext cx="11734165" cy="5293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 algn="l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. 华为无线数字孪生专利：将拟采用网络参数纳入未来性能预测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网络性能既受业务随时间变化的影响，也受网络配置影响。仅根据历史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KPI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预测未来趋势，难以评价不同配置方案。华为专利提出同时学习时间规律与参数影响，输入历史状态、历史动作和拟采用动作，预测未来吞吐量或业务量，为实际改参前的效果评估提供模型基础。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输入与输出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核心方法：两条分支分别学习不同时间尺度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ransformer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编码器分支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：学习一天内的小时变化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通过小时级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KPI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序列捕捉日内变化形态，为预测提供较细时间尺度的信息。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AttenInAtten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分支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：学习跨天规律及其与动作的关系。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第一层注意力形成不同历史子预测任务的表示，例如由前一天预测后一天；第二层结合未来拟采用动作，选择对当前预测更有参考价值的历史任务信息。未来动作作为注意力中的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Query，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参与决定模型应关注哪些历史信息。两条分支的信息共同形成未来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KPI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预测。将拟采用参数换成另一方案，可以得到相应的预测曲线，用于比较不同配置的预期效果。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研究成熟度与启示：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将未来动作显式纳入多时间尺度预测，使模型能够对网络参数变化作出响应。专利展示了吞吐量、业务量预测曲线和误差分析，但未展示候选动作自动生成、按安全门限筛选、下发配置及执行后验证的完整闭环。要形成动作安全校验，还需增加合格门限、预测不确定性处理和动作处置规则；预测曲线之间的差异也需要通过实际测试确认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39725" y="2489835"/>
          <a:ext cx="8533130" cy="164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495"/>
                <a:gridCol w="6985635"/>
              </a:tblGrid>
              <a:tr h="274955"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内容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专利实施例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</a:tr>
              <a:tr h="274955"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历史状态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前七天的网络性能，每天包含</a:t>
                      </a:r>
                      <a:r>
                        <a:rPr lang="en-US" altLang="zh-CN" sz="1200"/>
                        <a:t>24</a:t>
                      </a:r>
                      <a:r>
                        <a:rPr lang="zh-CN" altLang="en-US" sz="1200"/>
                        <a:t>个小时的 </a:t>
                      </a:r>
                      <a:r>
                        <a:rPr lang="en-US" altLang="zh-CN" sz="1200"/>
                        <a:t>KPI</a:t>
                      </a:r>
                      <a:endParaRPr lang="en-US" altLang="zh-CN" sz="1200"/>
                    </a:p>
                  </a:txBody>
                  <a:tcPr marL="0" marR="0" marT="0" marB="0" anchor="ctr" anchorCtr="0"/>
                </a:tc>
              </a:tr>
              <a:tr h="274955"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历史动作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各历史阶段对应的网络参数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</a:tr>
              <a:tr h="274955"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拟采用动作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第八天准备采用的网络参数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</a:tr>
              <a:tr h="274955"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预测输出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第八天逐小时的吞吐量或业务量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</a:tr>
              <a:tr h="274955"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动作表示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/>
                        <a:t>实施例采用</a:t>
                      </a:r>
                      <a:r>
                        <a:rPr lang="en-US" altLang="zh-CN" sz="1200"/>
                        <a:t>38</a:t>
                      </a:r>
                      <a:r>
                        <a:rPr lang="zh-CN" altLang="en-US" sz="1200"/>
                        <a:t>维向量，未逐项披露具体参数含义</a:t>
                      </a:r>
                      <a:endParaRPr lang="zh-CN" altLang="en-US" sz="12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方向一：方法对比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5"/>
          <p:cNvSpPr txBox="1"/>
          <p:nvPr/>
        </p:nvSpPr>
        <p:spPr>
          <a:xfrm>
            <a:off x="258445" y="951865"/>
            <a:ext cx="11734165" cy="5293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共同价值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两项研究都将候选动作作为预测输入，使测试结果能够用于执行前评估。完整动作校验需要分别完成：预测执行后的性能、依据业务要求判断是否合格、确定不合格动作的处理方式，并通过执行后测量核对判断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将状态、动作和结果对应记录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：测试数据不仅保存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KPI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曲线，还应关联动作执行前的无线与终端状态、所采用配置，以及执行后的吞吐量、时延、卡顿或通信中断结果，为动作效果建模提供训练依据。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用实际通信要求定义合格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：安全指标与测试业务相对应，并明确评价时间窗口及统计对象。平均性能、单用户表现和严重异常需要分别观察，避免平均值掩盖问题。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验证判断是否可靠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：重点统计预测合格但实际超限、预测违规但实际合格的情况，同时观察拦截或替换动作是否降低风险，以及增加多少资源或测试开销。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97180" y="1168400"/>
          <a:ext cx="10942320" cy="28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7440"/>
                <a:gridCol w="3647440"/>
                <a:gridCol w="3647440"/>
              </a:tblGrid>
              <a:tr h="36322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对比内容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华为无线数字孪生专利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SafeSlice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</a:tr>
              <a:tr h="318135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研究目标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预测拟采用参数下的未来性能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降低资源动作造成的时延违规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31877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控制动作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网络参数，实施例为</a:t>
                      </a:r>
                      <a:r>
                        <a:rPr lang="en-US" altLang="zh-CN" sz="1400"/>
                        <a:t>38</a:t>
                      </a:r>
                      <a:r>
                        <a:rPr lang="zh-CN" altLang="en-US" sz="1400"/>
                        <a:t>维向量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各业务切片的 </a:t>
                      </a:r>
                      <a:r>
                        <a:rPr lang="en-US" altLang="zh-CN" sz="1400"/>
                        <a:t>PRB </a:t>
                      </a:r>
                      <a:r>
                        <a:rPr lang="zh-CN" altLang="en-US" sz="1400"/>
                        <a:t>分配比例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31877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预测模型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Transformer</a:t>
                      </a:r>
                      <a:r>
                        <a:rPr lang="zh-CN" altLang="en-US" sz="1400"/>
                        <a:t>＋</a:t>
                      </a:r>
                      <a:r>
                        <a:rPr lang="en-US" altLang="zh-CN" sz="1400"/>
                        <a:t>AttenInAtten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XGBoost </a:t>
                      </a:r>
                      <a:r>
                        <a:rPr lang="zh-CN" altLang="en-US" sz="1400"/>
                        <a:t>回归模型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31750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预测时间尺度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示例为下一天逐小时性能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当前动作对应的短控制窗口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408305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安全判定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未展示明确门限与完整处置规则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与 </a:t>
                      </a:r>
                      <a:r>
                        <a:rPr lang="en-US" altLang="zh-CN" sz="1400"/>
                        <a:t>SLA </a:t>
                      </a:r>
                      <a:r>
                        <a:rPr lang="zh-CN" altLang="en-US" sz="1400"/>
                        <a:t>时延门限比较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40767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不合格动作处理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未展示具体动作替换机制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选择与原方案最近的预测合格动作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40767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现有证据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专利中的 </a:t>
                      </a:r>
                      <a:r>
                        <a:rPr lang="en-US" altLang="zh-CN" sz="1400"/>
                        <a:t>KPI </a:t>
                      </a:r>
                      <a:r>
                        <a:rPr lang="zh-CN" altLang="en-US" sz="1400"/>
                        <a:t>预测实施例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真实流量轨迹与业务模型驱动的仿真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方向二｜播放卡顿预期上报：将应用体验风险传递给无线网络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258445" y="1066165"/>
            <a:ext cx="11734165" cy="54140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视频播放器能够结合缓冲区、下载速率和播放策略判断即将发生的卡顿，但基站通常只能观察无线侧指标，难以了解应用是否迫切需要帮助。苹果提出由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应用识别卡顿风险、终端基带组织报告、基站评估资源响应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的跨层机制，使网络在卡顿发生前获得业务体验信息。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应用生成卡顿预期事件。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播放器结合当前与历史缓冲水平、数据传输速率、内容码率及播放策略，判断是否即将卡顿。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事件可携带预计距离卡顿的时间、事件生成时间、当前可播放缓冲量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，也可以表示卡顿已经发生。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根据应用自身能力决定是否报告。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部分实施方式允许网络配置：播放器已经无法通过降低码率等内部手段避免卡顿时，才触发报告。这样可以减少不必要的资源请求，也使网络更容易识别真正需要协助的业务。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基带将体验信息上报给基站。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应用把事件交给终端基带，基带通过应用层测量报告等信令，将其封装为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无线接入网可见的体验质量（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RAN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可见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QoE）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。支持事件触发或周期报告，并可限制最高报告频率，控制信令负担。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网络结合资源条件决定是否响应。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基站综合小区负载、无线条件、可用资源及其他用户需求，决定是否调整该终端的调度或资源配置。报告表达业务风险，资源调整仍由网络决定，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收到报告并不意味着必须增加资源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创新与价值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比仅报告当前缓冲水平，该机制进一步表达“应用预计何时发生卡顿”，将应用内部的风险判断转化为网络能够使用的信息，为提前干预业务体验提供依据。专利重点是跨层报告与协同机制，没有限定卡顿预测必须采用某一种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研究成熟度与启示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专利于 2026 年 5 月 5 日授权。测试可重点观察预警提前量、误报与漏报、报告时延及网络响应后的实际体验，同时将新增信令开销纳入评价。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方向二｜网络侧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模型推理验证：利用终端实测核验预测条件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258445" y="1066165"/>
            <a:ext cx="11734165" cy="52552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网络侧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可以预测服务小区、邻小区的信号状态，并据此减少终端测量或提前触发移动性动作。但预测可能与终端当前位置的真实无线条件不符。苹果提出由终端提供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按需实测核验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，并在执行基于预测的切换命令前检查预测条件，降低错误预测影响移动性决策的风险。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关键机制一：配置保留、按需触发的测量验证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网络先下发测量对象和报告要求，终端完成测量后继续保存配置。后续需要核验预测时，网络通过无线资源控制（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RRC）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消息、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MAC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控制单元或下行控制信息触发测量，终端复用已有配置并回报结果。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触发指示还可以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限定本次测量的小区、参考信号类型、测量时间和报告次数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。该设计减少反复下发完整配置的需要，在降低常规测量的同时保留现场核验能力。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关键机制二：切换执行前核对预测与实测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当切换由网络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预测触发时，切换命令可携带预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测的服务小区或目标小区测量值，以及允许偏差门限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。终端将其与实际测量比较：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偏差满足门限：按该方案执行切换。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偏差超过门限：按该方案拒绝执行，并反馈原因、实际测量值或预测偏差，供网络重新判断。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网络还可规定实测结果的最大有效时间，避免用过旧测量核验当前条件。上述流程属于专利提出的协议机制。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创新与价值：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将终端实测引入网络预测的验证过程，使终端能够指出“预测与现场情况不符”。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按需测量用于检查模型预测，执行前核验用于检查某次命令的依据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，两者共同连接预测、测量与移动性控制。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该专利于 2025 年 10 月公开，未给出切换失败率或测量开销改善的定量实验。测试可关联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预测值、同期实测、切换决定和最终结果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，评价偏差门限对切换失败、中断时长及额外测量开销的影响。无线条件核验通过，仍需由实际切换结果确认效果。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方向二｜部署后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AI/ML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功能与漂移验证：模型更新后的再验证与回退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258445" y="1009650"/>
            <a:ext cx="11734165" cy="54648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模型在开发阶段通过测试，并不意味着进入新环境或更新后仍保持原有性能。遮挡、移动状态和传播条件变化，都可能使模型表现退化。苹果提出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持续监控、漂移判断、模型更新、重新验证与激活回退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的流程，保障终端无线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功能在部署后的可靠性。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终端监控，网络判断性能漂移。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终端计算并上报当前模型的监控指标，网络与历史指标比较。变化超过配置门限时，判断模型可能发生性能漂移，并决定是否需要处理。监控对象可涉及数据特征、系统性能与环境条件。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根据退化情况选择更新方式。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网络可选择终端已有的另一模型、提供新模型，或微调当前模型。微调既可以在终端进行，也可以由终端采集数据、外部服务器训练，再将模型返回终端。模型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用于关联模型版本及适用场景或配置。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候选模型重新验证，通过后激活。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终端对候选模型重新计算监控指标并报告，网络根据启用门限判断是否通过，随后发送激活消息。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发现旧模型退化与确认新模型合格是两次独立判断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，旧模型失准不能直接成为新模型上线的依据。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更新期间保留通信回退能力。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候选模型尚未通过验证或更新未完成时，可使用先前通过验证的模型，或采用不依赖该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模型的传统功能，避免更新过程影响正常通信。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创新与价值：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将终端实测引入网络预测的验证过程，使终端能够指出“预测与现场情况不符”。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按需测量用于检查模型预测，执行前核验用于检查某次命令的依据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，两者共同连接预测、测量与移动性控制。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研究启示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将无线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验证扩展到部署后的持续运行与更新阶段，并纳入验证失败后的回退。该专利于 2025 年 10 月公开，未提供完整数据集、定量实验或商用部署证据。启示：测试不仅检查初始模型是否达标，还应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覆盖环境变化后的性能保持、更新模型在原场景与新场景中的表现，以及回退是否有效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方向三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| PropSplat：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基于稀疏实测的无线传播建模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188595" y="952500"/>
            <a:ext cx="11804015" cy="5527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无线电地图（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将位置与信号强度、覆盖状态或通信风险关联起来，可用于覆盖分析、定位和移动性决策。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PropSplat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重点研究：在缺少建筑、地形等环境地图时，利用少量无线链路实测，建立场景专属传播模型，预测未测链路的路径损耗。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输入条件与预测对象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训练样本包含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发射端位置、接收端位置、工作频率及实测路径损耗或接收信号强度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。训练完成后，输入新的发射—接收位置组合与频率，查询预计传播损耗。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“Map-Free”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表示无需额外输入建筑轮廓、室内平面图或地形资料；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该方法仍需要两端坐标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，用于计算距离、确定传播线段和初始化模型。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核心方法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基础传播模型描述总体衰减。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采用对数距离路径损耗模型，学习路径损耗指数，描述信号随距离和频率变化的基本规律，减少稀疏数据需要额外学习的内容。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三维高斯体描述局部传播差异。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使用具有位置、大小、方向和损耗修正量的三维高斯体，表示场景中相对于基础模型的局部偏差。根据它们与发射—接收线段的关系计算贡献，再与基础损耗相加。修正量可以增加或减少预测损耗。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用实测误差优化整个模型。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沿已测链路初始化高斯体，将预测损耗与实测值比较，通过梯度优化调整基础模型及高斯体参数。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基础模型负责总体距离规律，高斯体负责场景局部差异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，共同补全未测位置的传播信息。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：室外使用英国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Ofcom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真实路测数据，训练接收点约每 300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取一个、使用少于原始测量 1% 的数据时，平均路径损耗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RMSE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 5.38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dB。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室内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BLE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定位平均误差为 0.19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对应70%训练划分；仅用12.6%位置训练时为 0.44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已完成真实数据上的离线验证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。高斯体表示从无线数据学习的传播修正，不能直接认定为真实墙体或材质。当前模型主要面向静态环境，尚未验证动态在线更新。启示：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用位置明确的少量实测补全空间信息，为覆盖弱点识别和后续补测提供依据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方向三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| 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应用：室内定位与蜂窝覆盖分析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188595" y="952500"/>
            <a:ext cx="11804015" cy="4836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应用一：室内定位——利用无线指纹估计当前位置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地图中保存什么？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地图记录不同位置对应的无线指纹，即在该位置能够接收到哪些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Wi-Fi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接入点，以及各自的信号强度。同一位置的一组信号共同构成指纹，用于区分不同位置。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怎样建图和定位？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图时，将无线扫描结果与采样位置对应起来。定位时，手机扫描当前无线信号，与地图中各候选位置的指纹比较，将最匹配的位置作为估计结果。因此，建图阶段建立“位置与信号”的对应关系，定位阶段利用当前信号反查位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代表研究：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Leto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降低建图的位置标注成本</a:t>
            </a:r>
            <a:r>
              <a:rPr lang="en-US" altLang="zh-CN" sz="1400" b="1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[1]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传统指纹建图需要工作人员逐点记录位置并采集信号。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Leto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利用用户手机提供的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Wi-Fi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扫描和加速度数据，从多条移动轨迹中学习相对空间关系，再利用少量位置已知的地标校正，建立与实际空间对应的无线指纹地图。研究已在真实数据集上验证，重点贡献是减少人工采集与标注工作量。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应用价值：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为室内定位、楼层识别等提供空间依据。评价时既要检查地图中信号是否准确，也要检查邻近位置的指纹是否足够可区分，最终以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实际定位误差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评价用途。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应用二：蜂窝覆盖分析——将终端服务记录转化为空间覆盖信息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地图中保存什么？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地图关联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测量位置、小区身份和服务状态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，描述哪些区域观察到可用服务，哪些区域出现弱信号或无服务记录。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怎样分析？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Wong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等人的研究</a:t>
            </a:r>
            <a:r>
              <a:rPr lang="en-US" altLang="zh-CN" sz="14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[2]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将带位置的小区服务观测交给单类支持向量机，学习各小区的覆盖轮廓，再对无服务记录进行空间分析，识别疑似覆盖弱点。输出是一张覆盖与弱点分布图，可用于确定补测区域和测试路线。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应用价值与验证条件：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该研究使用合成数据评价方法，数据已公开。地图指出的是需要进一步验证的空间弱点，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缺少采样记录不能直接判为无覆盖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。对终端测试，可将无服务事件和业务异常定位到具体区域，再通过重复测量确认问题。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337820" y="6205855"/>
            <a:ext cx="11514455" cy="291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[1] Y. Wang et al., “Leto: Crowdsourced Radio Map Construction With Learned Topology and a Few Landmarks,” IEEE TMC, 2024.</a:t>
            </a:r>
            <a:endParaRPr lang="en-US" altLang="zh-CN" sz="10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[2] T. Wong et al., “Mobile Coverage Analysis using Crowdsourced Data,” arXiv, 2025.</a:t>
            </a:r>
            <a:endParaRPr lang="en-US" altLang="zh-CN" sz="10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方向三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| 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应用：移动性决策与覆盖配置优化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188595" y="1079500"/>
            <a:ext cx="11804015" cy="505142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应用三：移动性决策——利用位置对应的通信风险选择服务基站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地图中保存什么？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为了支持可靠连接，地图需要记录不同位置、不同候选基站的信号统计特征，包括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信号低于要求的概率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。平均信号较强的区域仍可能偶尔出现严重低谷，因此可靠性决策需要关注这些低概率事件。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怎样建图和定位？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极值理论增强的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</a:t>
            </a:r>
            <a:r>
              <a:rPr lang="en-US" altLang="zh-CN" sz="14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[1]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，在已知位置收集多次信干噪比（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SINR）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观测，用极值理论描述少见的低信号事件，并将统计信息组织为空间地图。终端移动时，系统根据其位置查询各候选基站的统计信息，计算满足中断概率要求所需的发射功率，选择合适的服务基站；同时通过保持时间和功率差门限，减少频繁往返切换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得到什么结果？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地图参与形成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服务基站选择与功率配置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使移动性决策同时考虑可靠性要求和资源消耗。论文通过数值仿真评价，假设触发后的切换成功，尚未验证完整切换协议过程。对动态测试的启示是：除了平均信号，还应关注沿途低信号风险及其与实际中断的关系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应用四：覆盖配置优化——比较不同天线方向下的空间覆盖效果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地图中保存什么？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这类模型需要能够预测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给定基站位置和天线方向时，各接收位置的路径损耗或信号质量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，从而表达配置变化对覆盖的影响。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怎样预测和优化？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Jaensch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等人</a:t>
            </a:r>
            <a:r>
              <a:rPr lang="en-US" altLang="zh-CN" sz="14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[2]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研究将航拍图、发射位置和天线方向图等信息输入卷积神经网络，预测路径损耗地图，再计算目标区域的接收功率或信干噪比。改变天线方位角或俯仰角后，模型重新生成对应的预测地图，比较目标区域的覆盖效果，并利用快速推理与模型可微性搜索较优方向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得到什么结果？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输出是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候选天线配置及其预计覆盖效果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，可用于实际改参前的方案评估。研究主要基于射线追踪数据验证。对手机企业，可在可控测试网络中借鉴配置比较方法，再用终端实测确认不同配置下的性能变化。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启示：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用于决策时，必须保存与任务相对应的信息：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移动性决策需要位置相关的可靠性风险，配置优化需要模型能够响应待调整参数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337820" y="6205855"/>
            <a:ext cx="11514455" cy="291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[1] D. Echevarr</a:t>
            </a:r>
            <a:r>
              <a:rPr lang="en-US" altLang="en-US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í</a:t>
            </a: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 P</a:t>
            </a:r>
            <a:r>
              <a:rPr lang="en-US" altLang="en-US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é</a:t>
            </a: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rez et al., “Extreme Value Theory-enhanced Radio Maps for Handovers in Ultra-reliable Communications,” arXiv, 2025.</a:t>
            </a:r>
            <a:endParaRPr lang="en-US" altLang="zh-CN" sz="10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[2] F. Jaensch et al., “Radio Map Prediction from Aerial Images and Application to Coverage Optimization,” arXiv, 2024.</a:t>
            </a:r>
            <a:endParaRPr lang="en-US" altLang="zh-CN" sz="10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方向四｜卫星通信：联合优化卫星切换与视频码率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5"/>
          <p:cNvSpPr txBox="1"/>
          <p:nvPr/>
        </p:nvSpPr>
        <p:spPr>
          <a:xfrm>
            <a:off x="170180" y="1066165"/>
            <a:ext cx="11879580" cy="54013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Joint LEO：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结合链路变化与播放状态进行跨层决策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低轨卫星（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LEO）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持续移动，服务链路的吞吐量和剩余可见时间不断变化，切换还可能造成短暂传输中断。视频播放器若仅根据当前网速选择码率，可能在切换后无法及时下载下一段视频。该研究将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卫星选择与视频码率作为一组联合动作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，共同优化画质、卡顿时长和画质变化。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同时观察通信状态与播放状态。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输入包括候选卫星的吞吐量历史、可见时间，以及播放器缓冲量、上一段码率、视频段大小和下载时间。每次下载新视频段前，共同决定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连接哪颗卫星、下一段采用什么码率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联合模型预测控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制：先评估，再执行。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模型预测控制（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MPC）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根据预计吞吐量，试算未来几段视频的卫星、切换时点与码率组合，计入切换中断对下载和缓冲的影响，选择预期体验较好的方案。为降低计算量，剪枝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MPC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在短预测窗口内最多考虑一次切换，每次执行当前决定后重新规划。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联合强化学习：直接学习动作组合。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采用近端策略优化（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PPO），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根据链路与播放状态直接输出“卫星＋码率”，以视频体验作为奖励。多用户方案利用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集中训练、分散推理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：训练时考虑用户间资源竞争，运行时各用户仅依据本地状态决策。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MPC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PPO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是两套可比较的方法。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创新与实验效果：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将卫星切换造成的吞吐量变化和中断开销纳入视频体验优化。在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Starlink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真实吞吐量轨迹驱动的实验中，相比表现最好的分别选择方案，1、5、20个用户设置下，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QoE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分别提升约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18%、68%、57%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；测试床中每段视频的决策计算时间低于 10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ms。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代码和数据已公开，可用于软件仿真与轨迹回放。测试床用受吞吐量轨迹限速的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TCP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连接模拟不同卫星链路，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验证了联合决策效果，未实现对真实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Starlink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卫星的主动切换控制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。启示：链路切换应与应用缓冲和码率策略共同评价，观察切换前后业务能否连续运行。播放器侧适配可直接研究，完整选星控制则需要相应卫星接口或可控实验环境。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方向五｜测试系统与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算法验证：终端多项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功能联合测试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文本框 5"/>
          <p:cNvSpPr txBox="1"/>
          <p:nvPr/>
        </p:nvSpPr>
        <p:spPr>
          <a:xfrm>
            <a:off x="170180" y="1052830"/>
            <a:ext cx="11879580" cy="54146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诺基亚专利：检查多个通信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功能同时运行时的相互影响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技术概述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终端可能同时运行波束预测、信道状态信息（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CSI）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压缩或预测、定位等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功能。各功能单独测试合格，同时运行时仍可能因计算和内存资源竞争，出现输出延迟或性能下降。该专利提出由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测试设备配置多项功能、终端执行并报告、测试设备比较联合运行影响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，补充单功能测试难以发现的问题。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测试系统与方法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建立单功能性能基准。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测试设备先配置并激活功能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提供所需测试信号，收集模型输出、报告时延和通信性能。例如，先记录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波束预测单独运行时的准确度与结果产生时间。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加入另一功能，进行对照测试。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在可比较的无线条件下激活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F2，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CSI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预测，使终端同时运行两项功能。再次收集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F1、F2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的结果，并记录处理负载、内存占用及吞吐量、时延等指标，比较相对于单独运行的变化。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根据功能要求评价组合影响。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检查各功能是否仍满足相应性能与时限要求，并用影响矩阵记录不同功能组合造成的变化，识别“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单独运行合格、同时运行退化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”的情况。合格门限需由具体测试要求确定，专利没有规定适用于所有功能的统一数值。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测试实现方式：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除同时提供两项功能所需无线信号外，也可让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接受无线测试，向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注入数据集，使其实际执行推理并产生附加负载。该方式有助于简化复杂场景构造，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但数据集注入不等于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也完成了完整空口测试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。测试设备能够控制功能同时处于激活状态，未必能精确控制终端内部每次推理的执行时刻。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RAN4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的联系：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RAN4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提供对应无线功能的性能要求与测试依据。例如，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Rel-19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TS 38.133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已引入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AI/ML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波束管理相关的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L1-RSRP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测量及激活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TCI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状态切换时延要求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。联合运行时，需检查这些无线性能是否仍达标；专利提出的组合测试与影响矩阵属于方法设计，不能直接视为标准已采纳的流程。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国际申请于2024年公开，同族美国申请于2026年9月24日公开，核心方案并非2026年才提出。原文未提供完整真机实验或开源测试系统。启示：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验证应覆盖功能组合，既检查输出准确性，也检查能否及时完成及对实际通信性能的影响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。完整验证依赖功能激活、报告与内部统计接口。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调研总结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1"/>
          <p:cNvSpPr txBox="1"/>
          <p:nvPr/>
        </p:nvSpPr>
        <p:spPr>
          <a:xfrm>
            <a:off x="363855" y="1139825"/>
            <a:ext cx="11370945" cy="5247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本次调研表明，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与通信的结合正在出现四个较为明确的变化。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 网络测量从“周期采集”走向“预测与事件驱动”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高铁移动性预测和关键事件驱动的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数据采集表明，网络测量开始关注减少无效测量、提前识别风险以及采集高价值数据。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网络分析从“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KPI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监控”走向“业务体验与异常理解”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RIC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视频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QoE、RANGAN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和播放卡顿预期上报等研究，正在打通无线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KPI、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终端状态和用户体验之间的关系，使网络能够更主动地识别业务质量下降及其原因。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 网络控制从“性能优化”走向“安全可靠的闭环决策”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xSlice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展示了强化学习接入真实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RIC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闭环的可行性；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SafeSlice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和预测质量专利则表明，通信控制不仅要提升性能，还需要考虑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SLA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约束、动作安全和预测结果的可靠性。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 AI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应用从地面网络扩展到无线环境、卫星与数字孪生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PropSplat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在线适配分别研究无线环境模型的低成本构建与动态更新；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Joint LEO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LF-GNSS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扩展到卫星通信与定位；数字孪生进一步用于网络模型自动生成和候选配置效果预测。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总体来看，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正在推动通信系统由固定测量、被动分析和单点优化，逐步转向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按需感知、业务理解与安全闭环决策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856*396"/>
  <p:tag name="TABLE_ENDDRAG_RECT" val="44*96*856*396"/>
</p:tagLst>
</file>

<file path=ppt/tags/tag64.xml><?xml version="1.0" encoding="utf-8"?>
<p:tagLst xmlns:p="http://schemas.openxmlformats.org/presentationml/2006/main">
  <p:tag name="TABLE_ENDDRAG_ORIGIN_RECT" val="780*136"/>
  <p:tag name="TABLE_ENDDRAG_RECT" val="29*175*780*136"/>
</p:tagLst>
</file>

<file path=ppt/tags/tag65.xml><?xml version="1.0" encoding="utf-8"?>
<p:tagLst xmlns:p="http://schemas.openxmlformats.org/presentationml/2006/main">
  <p:tag name="TABLE_ENDDRAG_ORIGIN_RECT" val="671*129"/>
  <p:tag name="TABLE_ENDDRAG_RECT" val="26*196*671*129"/>
</p:tagLst>
</file>

<file path=ppt/tags/tag66.xml><?xml version="1.0" encoding="utf-8"?>
<p:tagLst xmlns:p="http://schemas.openxmlformats.org/presentationml/2006/main">
  <p:tag name="TABLE_ENDDRAG_ORIGIN_RECT" val="861*221"/>
  <p:tag name="TABLE_ENDDRAG_RECT" val="23*92*861*22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10436</Words>
  <Application>WPS 演示</Application>
  <PresentationFormat>宽屏</PresentationFormat>
  <Paragraphs>331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Century Gothic</vt:lpstr>
      <vt:lpstr>等线</vt:lpstr>
      <vt:lpstr>Times New Roman</vt:lpstr>
      <vt:lpstr>WPS</vt:lpstr>
      <vt:lpstr>AI与通信融合研究进展调研</vt:lpstr>
      <vt:lpstr>研究方向</vt:lpstr>
      <vt:lpstr>方向一：AI改进通信测试与数据采集</vt:lpstr>
      <vt:lpstr>方向一：动作的安全校验</vt:lpstr>
      <vt:lpstr>方向一：动作安全校验——SafeSlice 的方法与控制流程</vt:lpstr>
      <vt:lpstr>方向一：动作安全校验——华为候选配置效果预测</vt:lpstr>
      <vt:lpstr>方向二｜播放卡顿预期上报：将应用体验风险传递给无线网络</vt:lpstr>
      <vt:lpstr>方向二：AI分析通信测试结果与业务体验</vt:lpstr>
      <vt:lpstr>方向二｜网络侧 AI 模型推理验证：利用终端实测核验预测条件</vt:lpstr>
      <vt:lpstr>方向三：测试结果驱动网络优化</vt:lpstr>
      <vt:lpstr>方向三：测试结果驱动网络优化</vt:lpstr>
      <vt:lpstr>方向三 | Radio Map 应用：室内定位与蜂窝覆盖分析</vt:lpstr>
      <vt:lpstr>方向四 | 空间无线环境建模：从稀疏测量到跨场景复用</vt:lpstr>
      <vt:lpstr>方向四 | 卫星场景中的智能通信与鲁棒定位</vt:lpstr>
      <vt:lpstr>调研总结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Troye</cp:lastModifiedBy>
  <cp:revision>157</cp:revision>
  <dcterms:created xsi:type="dcterms:W3CDTF">2019-06-19T02:08:00Z</dcterms:created>
  <dcterms:modified xsi:type="dcterms:W3CDTF">2026-09-29T23:50:55Z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840516178A7F4FFAA914672A8D8E3B8C_11</vt:lpwstr>
  </property>
</Properties>
</file>